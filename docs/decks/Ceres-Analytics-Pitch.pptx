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4D8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8FB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737360"/>
            <a:ext cx="10728655" cy="184658"/>
          </a:xfrm>
          <a:prstGeom prst="rect">
            <a:avLst/>
          </a:prstGeom>
          <a:noFill/>
        </p:spPr>
        <p:txBody>
          <a:bodyPr wrap="square" lIns="0" rIns="0" tIns="0" bIns="0" anchor="t">
            <a:spAutoFit/>
          </a:bodyPr>
          <a:lstStyle/>
          <a:p>
            <a:pPr algn="l">
              <a:lnSpc>
                <a:spcPct val="100000"/>
              </a:lnSpc>
              <a:spcAft>
                <a:spcPts val="0"/>
              </a:spcAft>
            </a:pPr>
            <a:r>
              <a:rPr sz="1100" b="1">
                <a:solidFill>
                  <a:srgbClr val="C5D7EC"/>
                </a:solidFill>
                <a:latin typeface="Helvetica Neue"/>
              </a:rPr>
              <a:t>INVESTOR &amp; PARTNER BRIEFING · SEPTEMBER 2026</a:t>
            </a:r>
          </a:p>
        </p:txBody>
      </p:sp>
      <p:sp>
        <p:nvSpPr>
          <p:cNvPr id="4" name="TextBox 3"/>
          <p:cNvSpPr txBox="1"/>
          <p:nvPr/>
        </p:nvSpPr>
        <p:spPr>
          <a:xfrm>
            <a:off x="731520" y="2139696"/>
            <a:ext cx="10728655" cy="790448"/>
          </a:xfrm>
          <a:prstGeom prst="rect">
            <a:avLst/>
          </a:prstGeom>
          <a:noFill/>
        </p:spPr>
        <p:txBody>
          <a:bodyPr wrap="square" lIns="0" rIns="0" tIns="0" bIns="0" anchor="t">
            <a:spAutoFit/>
          </a:bodyPr>
          <a:lstStyle/>
          <a:p>
            <a:pPr algn="l">
              <a:lnSpc>
                <a:spcPct val="100000"/>
              </a:lnSpc>
              <a:spcAft>
                <a:spcPts val="0"/>
              </a:spcAft>
            </a:pPr>
            <a:r>
              <a:rPr sz="5600" b="1">
                <a:solidFill>
                  <a:srgbClr val="FFFFFF"/>
                </a:solidFill>
                <a:latin typeface="Helvetica Neue"/>
              </a:rPr>
              <a:t>Ceres Analytics</a:t>
            </a:r>
          </a:p>
        </p:txBody>
      </p:sp>
      <p:sp>
        <p:nvSpPr>
          <p:cNvPr id="5" name="TextBox 4"/>
          <p:cNvSpPr txBox="1"/>
          <p:nvPr/>
        </p:nvSpPr>
        <p:spPr>
          <a:xfrm>
            <a:off x="731520" y="3127248"/>
            <a:ext cx="8368351" cy="391972"/>
          </a:xfrm>
          <a:prstGeom prst="rect">
            <a:avLst/>
          </a:prstGeom>
          <a:noFill/>
        </p:spPr>
        <p:txBody>
          <a:bodyPr wrap="square" lIns="0" rIns="0" tIns="0" bIns="0" anchor="t">
            <a:spAutoFit/>
          </a:bodyPr>
          <a:lstStyle/>
          <a:p>
            <a:pPr algn="l">
              <a:lnSpc>
                <a:spcPct val="120000"/>
              </a:lnSpc>
              <a:spcAft>
                <a:spcPts val="0"/>
              </a:spcAft>
            </a:pPr>
            <a:r>
              <a:rPr sz="2200" b="0">
                <a:solidFill>
                  <a:srgbClr val="FFFFFF"/>
                </a:solidFill>
                <a:latin typeface="Helvetica Neue"/>
              </a:rPr>
              <a:t>We make the public financial record usable.</a:t>
            </a:r>
          </a:p>
        </p:txBody>
      </p:sp>
      <p:sp>
        <p:nvSpPr>
          <p:cNvPr id="6" name="TextBox 5"/>
          <p:cNvSpPr txBox="1"/>
          <p:nvPr/>
        </p:nvSpPr>
        <p:spPr>
          <a:xfrm>
            <a:off x="731520" y="3657600"/>
            <a:ext cx="6651766" cy="745350"/>
          </a:xfrm>
          <a:prstGeom prst="rect">
            <a:avLst/>
          </a:prstGeom>
          <a:noFill/>
        </p:spPr>
        <p:txBody>
          <a:bodyPr wrap="square" lIns="0" rIns="0" tIns="0" bIns="0" anchor="t">
            <a:spAutoFit/>
          </a:bodyPr>
          <a:lstStyle/>
          <a:p>
            <a:pPr algn="l">
              <a:lnSpc>
                <a:spcPct val="135000"/>
              </a:lnSpc>
              <a:spcAft>
                <a:spcPts val="0"/>
              </a:spcAft>
            </a:pPr>
            <a:r>
              <a:rPr sz="1300" b="0">
                <a:solidFill>
                  <a:srgbClr val="C5D7EC"/>
                </a:solidFill>
                <a:latin typeface="Helvetica Neue"/>
              </a:rPr>
              <a:t>Company filings and official statistics, cleaned up, stored properly, and traceable back to the document they came from. You can reach it through an API, through your own AI assistant, or through specialists we run for you.</a:t>
            </a:r>
          </a:p>
        </p:txBody>
      </p:sp>
      <p:sp>
        <p:nvSpPr>
          <p:cNvPr id="7" name="Rectangle 6"/>
          <p:cNvSpPr/>
          <p:nvPr/>
        </p:nvSpPr>
        <p:spPr>
          <a:xfrm>
            <a:off x="731520" y="4791456"/>
            <a:ext cx="5364327" cy="12801"/>
          </a:xfrm>
          <a:prstGeom prst="rect">
            <a:avLst/>
          </a:prstGeom>
          <a:solidFill>
            <a:srgbClr val="123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992624"/>
            <a:ext cx="5364327" cy="479475"/>
          </a:xfrm>
          <a:prstGeom prst="rect">
            <a:avLst/>
          </a:prstGeom>
          <a:noFill/>
        </p:spPr>
        <p:txBody>
          <a:bodyPr wrap="square" lIns="0" rIns="0" tIns="0" bIns="0" anchor="t">
            <a:spAutoFit/>
          </a:bodyPr>
          <a:lstStyle/>
          <a:p>
            <a:pPr algn="l">
              <a:lnSpc>
                <a:spcPct val="140000"/>
              </a:lnSpc>
              <a:spcAft>
                <a:spcPts val="0"/>
              </a:spcAft>
            </a:pPr>
            <a:r>
              <a:rPr sz="1250" b="1">
                <a:solidFill>
                  <a:srgbClr val="FFFFFF"/>
                </a:solidFill>
                <a:latin typeface="Helvetica Neue"/>
              </a:rPr>
              <a:t>[FOUNDER 1] · [FOUNDER 2]</a:t>
            </a:r>
          </a:p>
          <a:p>
            <a:pPr algn="l">
              <a:lnSpc>
                <a:spcPct val="140000"/>
              </a:lnSpc>
              <a:spcAft>
                <a:spcPts val="0"/>
              </a:spcAft>
            </a:pPr>
            <a:r>
              <a:rPr sz="1100" b="0">
                <a:solidFill>
                  <a:srgbClr val="C5D7EC"/>
                </a:solidFill>
                <a:latin typeface="Helvetica Neue"/>
              </a:rPr>
              <a:t>[EMAIL] · ceresanalytics.[tld]</a:t>
            </a:r>
          </a:p>
        </p:txBody>
      </p:sp>
      <p:sp>
        <p:nvSpPr>
          <p:cNvPr id="9" name="TextBox 8"/>
          <p:cNvSpPr txBox="1"/>
          <p:nvPr/>
        </p:nvSpPr>
        <p:spPr>
          <a:xfrm>
            <a:off x="7985455" y="4992624"/>
            <a:ext cx="3474720" cy="479475"/>
          </a:xfrm>
          <a:prstGeom prst="rect">
            <a:avLst/>
          </a:prstGeom>
          <a:noFill/>
        </p:spPr>
        <p:txBody>
          <a:bodyPr wrap="square" lIns="0" rIns="0" tIns="0" bIns="0" anchor="t">
            <a:spAutoFit/>
          </a:bodyPr>
          <a:lstStyle/>
          <a:p>
            <a:pPr algn="r">
              <a:lnSpc>
                <a:spcPct val="140000"/>
              </a:lnSpc>
              <a:spcAft>
                <a:spcPts val="0"/>
              </a:spcAft>
            </a:pPr>
            <a:r>
              <a:rPr sz="1250" b="1">
                <a:solidFill>
                  <a:srgbClr val="FFFFFF"/>
                </a:solidFill>
                <a:latin typeface="Helvetica Neue"/>
              </a:rPr>
              <a:t>Running today in Japan</a:t>
            </a:r>
          </a:p>
          <a:p>
            <a:pPr algn="r">
              <a:lnSpc>
                <a:spcPct val="140000"/>
              </a:lnSpc>
              <a:spcAft>
                <a:spcPts val="0"/>
              </a:spcAft>
            </a:pPr>
            <a:r>
              <a:rPr sz="1100" b="0">
                <a:solidFill>
                  <a:srgbClr val="C5D7EC"/>
                </a:solidFill>
                <a:latin typeface="Helvetica Neue"/>
              </a:rPr>
              <a:t>Nothing in the system is specific to Japan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Unusable public data</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Most of it cannot actually be used. It is free to download, but making it usable is where the cost is, and every firm pays that cost on its own.</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936897"/>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856887"/>
            <a:ext cx="5359444"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Filings are documents, not data. </a:t>
            </a:r>
            <a:r>
              <a:rPr sz="1500" b="0">
                <a:solidFill>
                  <a:srgbClr val="334155"/>
                </a:solidFill>
                <a:latin typeface="Helvetica Neue"/>
              </a:rPr>
              <a:t>Thousands of companies publish long reports in their own language, mostly in the same few weeks of the year.</a:t>
            </a:r>
          </a:p>
        </p:txBody>
      </p:sp>
      <p:sp>
        <p:nvSpPr>
          <p:cNvPr id="7" name="Oval 6"/>
          <p:cNvSpPr/>
          <p:nvPr/>
        </p:nvSpPr>
        <p:spPr>
          <a:xfrm>
            <a:off x="731520" y="2950281"/>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870271"/>
            <a:ext cx="5359444"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Statistics come formatted for print. </a:t>
            </a:r>
            <a:r>
              <a:rPr sz="1500" b="0">
                <a:solidFill>
                  <a:srgbClr val="334155"/>
                </a:solidFill>
                <a:latin typeface="Helvetica Neue"/>
              </a:rPr>
              <a:t>Old text encodings, layouts that change without notice, and blank cells that get read as zeros.</a:t>
            </a:r>
          </a:p>
        </p:txBody>
      </p:sp>
      <p:sp>
        <p:nvSpPr>
          <p:cNvPr id="9" name="Oval 8"/>
          <p:cNvSpPr/>
          <p:nvPr/>
        </p:nvSpPr>
        <p:spPr>
          <a:xfrm>
            <a:off x="731520" y="3963664"/>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3883654"/>
            <a:ext cx="5359444"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Revisions overwrite history. </a:t>
            </a:r>
            <a:r>
              <a:rPr sz="1500" b="0">
                <a:solidFill>
                  <a:srgbClr val="334155"/>
                </a:solidFill>
                <a:latin typeface="Helvetica Neue"/>
              </a:rPr>
              <a:t>What you download today is not what anyone could see last year, so a backtest run on it is wrong.</a:t>
            </a:r>
          </a:p>
        </p:txBody>
      </p:sp>
      <p:sp>
        <p:nvSpPr>
          <p:cNvPr id="11" name="Oval 10"/>
          <p:cNvSpPr/>
          <p:nvPr/>
        </p:nvSpPr>
        <p:spPr>
          <a:xfrm>
            <a:off x="731520" y="4977048"/>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4897038"/>
            <a:ext cx="5359444"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So every firm rebuilds the same thing. </a:t>
            </a:r>
            <a:r>
              <a:rPr sz="1500" b="0">
                <a:solidFill>
                  <a:srgbClr val="334155"/>
                </a:solidFill>
                <a:latin typeface="Helvetica Neue"/>
              </a:rPr>
              <a:t>They extract the same filings, get some of it wrong, and lose the work when the analyst leaves.</a:t>
            </a:r>
          </a:p>
        </p:txBody>
      </p:sp>
      <p:sp>
        <p:nvSpPr>
          <p:cNvPr id="13" name="Rectangle 12"/>
          <p:cNvSpPr/>
          <p:nvPr/>
        </p:nvSpPr>
        <p:spPr>
          <a:xfrm>
            <a:off x="6846853" y="1856887"/>
            <a:ext cx="4613321" cy="3779215"/>
          </a:xfrm>
          <a:prstGeom prst="rect">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21173" y="2149495"/>
            <a:ext cx="4064681" cy="157734"/>
          </a:xfrm>
          <a:prstGeom prst="rect">
            <a:avLst/>
          </a:prstGeom>
          <a:noFill/>
        </p:spPr>
        <p:txBody>
          <a:bodyPr wrap="square" lIns="0" rIns="0" tIns="0" bIns="0" anchor="t">
            <a:spAutoFit/>
          </a:bodyPr>
          <a:lstStyle/>
          <a:p>
            <a:pPr algn="l">
              <a:lnSpc>
                <a:spcPct val="100000"/>
              </a:lnSpc>
              <a:spcAft>
                <a:spcPts val="0"/>
              </a:spcAft>
            </a:pPr>
            <a:r>
              <a:rPr sz="900" b="1">
                <a:solidFill>
                  <a:srgbClr val="64748B"/>
                </a:solidFill>
                <a:latin typeface="Helvetica Neue"/>
              </a:rPr>
              <a:t>WHAT THIS SOUNDS LIKE IN PRACTICE</a:t>
            </a:r>
          </a:p>
        </p:txBody>
      </p:sp>
      <p:sp>
        <p:nvSpPr>
          <p:cNvPr id="15" name="TextBox 14"/>
          <p:cNvSpPr txBox="1"/>
          <p:nvPr/>
        </p:nvSpPr>
        <p:spPr>
          <a:xfrm>
            <a:off x="7121173" y="2490109"/>
            <a:ext cx="4064681" cy="1387083"/>
          </a:xfrm>
          <a:prstGeom prst="rect">
            <a:avLst/>
          </a:prstGeom>
          <a:noFill/>
        </p:spPr>
        <p:txBody>
          <a:bodyPr wrap="square" lIns="0" rIns="0" tIns="0" bIns="0" anchor="t">
            <a:spAutoFit/>
          </a:bodyPr>
          <a:lstStyle/>
          <a:p>
            <a:pPr algn="l">
              <a:lnSpc>
                <a:spcPct val="132000"/>
              </a:lnSpc>
              <a:spcAft>
                <a:spcPts val="0"/>
              </a:spcAft>
            </a:pPr>
            <a:r>
              <a:rPr sz="1900" b="0">
                <a:solidFill>
                  <a:srgbClr val="0F172A"/>
                </a:solidFill>
                <a:latin typeface="Helvetica Neue"/>
              </a:rPr>
              <a:t>“Twenty of my companies filed this month. I will read three of them properly and never open the rest.”</a:t>
            </a:r>
          </a:p>
        </p:txBody>
      </p:sp>
      <p:sp>
        <p:nvSpPr>
          <p:cNvPr id="16" name="TextBox 15"/>
          <p:cNvSpPr txBox="1"/>
          <p:nvPr/>
        </p:nvSpPr>
        <p:spPr>
          <a:xfrm>
            <a:off x="7121173" y="4169801"/>
            <a:ext cx="4064681" cy="642366"/>
          </a:xfrm>
          <a:prstGeom prst="rect">
            <a:avLst/>
          </a:prstGeom>
          <a:noFill/>
        </p:spPr>
        <p:txBody>
          <a:bodyPr wrap="square" lIns="0" rIns="0" tIns="0" bIns="0" anchor="t">
            <a:spAutoFit/>
          </a:bodyPr>
          <a:lstStyle/>
          <a:p>
            <a:pPr algn="l">
              <a:lnSpc>
                <a:spcPct val="125000"/>
              </a:lnSpc>
              <a:spcAft>
                <a:spcPts val="0"/>
              </a:spcAft>
            </a:pPr>
            <a:r>
              <a:rPr sz="1200" b="0">
                <a:solidFill>
                  <a:srgbClr val="64748B"/>
                </a:solidFill>
                <a:latin typeface="Helvetica Neue"/>
              </a:rPr>
              <a:t>An analyst covering Asian equities. The gap between what companies disclose and what anyone actually reads is the whole opportunity.</a:t>
            </a:r>
          </a:p>
        </p:txBody>
      </p:sp>
      <p:sp>
        <p:nvSpPr>
          <p:cNvPr id="17" name="TextBox 16"/>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THE PROBLEM</a:t>
            </a:r>
          </a:p>
        </p:txBody>
      </p:sp>
      <p:sp>
        <p:nvSpPr>
          <p:cNvPr id="18" name="TextBox 17"/>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Ingest, store, serve</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We pull from official sources, store everything in one schema with its provenance, and let people get at it however suits them.</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75175"/>
            <a:ext cx="10728655" cy="676656"/>
          </a:xfrm>
          <a:prstGeom prst="rect">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75175"/>
            <a:ext cx="45720" cy="676656"/>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39767"/>
            <a:ext cx="1920240" cy="251294"/>
          </a:xfrm>
          <a:prstGeom prst="rect">
            <a:avLst/>
          </a:prstGeom>
          <a:noFill/>
        </p:spPr>
        <p:txBody>
          <a:bodyPr wrap="square" lIns="0" rIns="0" tIns="0" bIns="0" anchor="t">
            <a:spAutoFit/>
          </a:bodyPr>
          <a:lstStyle/>
          <a:p>
            <a:pPr algn="l">
              <a:lnSpc>
                <a:spcPct val="110000"/>
              </a:lnSpc>
              <a:spcAft>
                <a:spcPts val="0"/>
              </a:spcAft>
            </a:pPr>
            <a:r>
              <a:rPr sz="1450" b="1">
                <a:solidFill>
                  <a:srgbClr val="0F172A"/>
                </a:solidFill>
                <a:latin typeface="Helvetica Neue"/>
              </a:rPr>
              <a:t>Sources</a:t>
            </a:r>
          </a:p>
        </p:txBody>
      </p:sp>
      <p:sp>
        <p:nvSpPr>
          <p:cNvPr id="8" name="TextBox 7"/>
          <p:cNvSpPr txBox="1"/>
          <p:nvPr/>
        </p:nvSpPr>
        <p:spPr>
          <a:xfrm>
            <a:off x="3063239" y="2076343"/>
            <a:ext cx="5364327" cy="222351"/>
          </a:xfrm>
          <a:prstGeom prst="rect">
            <a:avLst/>
          </a:prstGeom>
          <a:noFill/>
        </p:spPr>
        <p:txBody>
          <a:bodyPr wrap="square" lIns="0" rIns="0" tIns="0" bIns="0" anchor="t">
            <a:spAutoFit/>
          </a:bodyPr>
          <a:lstStyle/>
          <a:p>
            <a:pPr algn="l">
              <a:lnSpc>
                <a:spcPct val="115000"/>
              </a:lnSpc>
              <a:spcAft>
                <a:spcPts val="0"/>
              </a:spcAft>
            </a:pPr>
            <a:r>
              <a:rPr sz="1200" b="0">
                <a:solidFill>
                  <a:srgbClr val="334155"/>
                </a:solidFill>
                <a:latin typeface="Helvetica Neue"/>
              </a:rPr>
              <a:t>Statistics agencies, filing regulators, central banks, customs</a:t>
            </a:r>
          </a:p>
        </p:txBody>
      </p:sp>
      <p:sp>
        <p:nvSpPr>
          <p:cNvPr id="9" name="TextBox 8"/>
          <p:cNvSpPr txBox="1"/>
          <p:nvPr/>
        </p:nvSpPr>
        <p:spPr>
          <a:xfrm>
            <a:off x="8808415" y="2076343"/>
            <a:ext cx="2377440" cy="206870"/>
          </a:xfrm>
          <a:prstGeom prst="rect">
            <a:avLst/>
          </a:prstGeom>
          <a:noFill/>
        </p:spPr>
        <p:txBody>
          <a:bodyPr wrap="square" lIns="0" rIns="0" tIns="0" bIns="0" anchor="t">
            <a:spAutoFit/>
          </a:bodyPr>
          <a:lstStyle/>
          <a:p>
            <a:pPr algn="r">
              <a:lnSpc>
                <a:spcPct val="115000"/>
              </a:lnSpc>
              <a:spcAft>
                <a:spcPts val="0"/>
              </a:spcAft>
            </a:pPr>
            <a:r>
              <a:rPr sz="1100" b="0">
                <a:solidFill>
                  <a:srgbClr val="64748B"/>
                </a:solidFill>
                <a:latin typeface="Helvetica Neue"/>
              </a:rPr>
              <a:t>any country</a:t>
            </a:r>
          </a:p>
        </p:txBody>
      </p:sp>
      <p:sp>
        <p:nvSpPr>
          <p:cNvPr id="10" name="TextBox 9"/>
          <p:cNvSpPr txBox="1"/>
          <p:nvPr/>
        </p:nvSpPr>
        <p:spPr>
          <a:xfrm>
            <a:off x="6004407" y="2533543"/>
            <a:ext cx="182880" cy="184658"/>
          </a:xfrm>
          <a:prstGeom prst="rect">
            <a:avLst/>
          </a:prstGeom>
          <a:noFill/>
        </p:spPr>
        <p:txBody>
          <a:bodyPr wrap="square" lIns="0" rIns="0" tIns="0" bIns="0" anchor="t">
            <a:spAutoFit/>
          </a:bodyPr>
          <a:lstStyle/>
          <a:p>
            <a:pPr algn="ctr">
              <a:lnSpc>
                <a:spcPct val="100000"/>
              </a:lnSpc>
              <a:spcAft>
                <a:spcPts val="0"/>
              </a:spcAft>
            </a:pPr>
            <a:r>
              <a:rPr sz="1100" b="0">
                <a:solidFill>
                  <a:srgbClr val="94A3B8"/>
                </a:solidFill>
                <a:latin typeface="Helvetica Neue"/>
              </a:rPr>
              <a:t>↓</a:t>
            </a:r>
          </a:p>
        </p:txBody>
      </p:sp>
      <p:sp>
        <p:nvSpPr>
          <p:cNvPr id="11" name="Rectangle 10"/>
          <p:cNvSpPr/>
          <p:nvPr/>
        </p:nvSpPr>
        <p:spPr>
          <a:xfrm>
            <a:off x="731520" y="2698135"/>
            <a:ext cx="10728655" cy="676656"/>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698135"/>
            <a:ext cx="45720" cy="676656"/>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862727"/>
            <a:ext cx="1920240" cy="251294"/>
          </a:xfrm>
          <a:prstGeom prst="rect">
            <a:avLst/>
          </a:prstGeom>
          <a:noFill/>
        </p:spPr>
        <p:txBody>
          <a:bodyPr wrap="square" lIns="0" rIns="0" tIns="0" bIns="0" anchor="t">
            <a:spAutoFit/>
          </a:bodyPr>
          <a:lstStyle/>
          <a:p>
            <a:pPr algn="l">
              <a:lnSpc>
                <a:spcPct val="110000"/>
              </a:lnSpc>
              <a:spcAft>
                <a:spcPts val="0"/>
              </a:spcAft>
            </a:pPr>
            <a:r>
              <a:rPr sz="1450" b="1">
                <a:solidFill>
                  <a:srgbClr val="0F172A"/>
                </a:solidFill>
                <a:latin typeface="Helvetica Neue"/>
              </a:rPr>
              <a:t>Adapters</a:t>
            </a:r>
          </a:p>
        </p:txBody>
      </p:sp>
      <p:sp>
        <p:nvSpPr>
          <p:cNvPr id="14" name="TextBox 13"/>
          <p:cNvSpPr txBox="1"/>
          <p:nvPr/>
        </p:nvSpPr>
        <p:spPr>
          <a:xfrm>
            <a:off x="3063239" y="2899303"/>
            <a:ext cx="5364327" cy="222351"/>
          </a:xfrm>
          <a:prstGeom prst="rect">
            <a:avLst/>
          </a:prstGeom>
          <a:noFill/>
        </p:spPr>
        <p:txBody>
          <a:bodyPr wrap="square" lIns="0" rIns="0" tIns="0" bIns="0" anchor="t">
            <a:spAutoFit/>
          </a:bodyPr>
          <a:lstStyle/>
          <a:p>
            <a:pPr algn="l">
              <a:lnSpc>
                <a:spcPct val="115000"/>
              </a:lnSpc>
              <a:spcAft>
                <a:spcPts val="0"/>
              </a:spcAft>
            </a:pPr>
            <a:r>
              <a:rPr sz="1200" b="0">
                <a:solidFill>
                  <a:srgbClr val="334155"/>
                </a:solidFill>
                <a:latin typeface="Helvetica Neue"/>
              </a:rPr>
              <a:t>Download, parse, check it makes sense, archive the original</a:t>
            </a:r>
          </a:p>
        </p:txBody>
      </p:sp>
      <p:sp>
        <p:nvSpPr>
          <p:cNvPr id="15" name="TextBox 14"/>
          <p:cNvSpPr txBox="1"/>
          <p:nvPr/>
        </p:nvSpPr>
        <p:spPr>
          <a:xfrm>
            <a:off x="8808415" y="2899303"/>
            <a:ext cx="2377440" cy="206870"/>
          </a:xfrm>
          <a:prstGeom prst="rect">
            <a:avLst/>
          </a:prstGeom>
          <a:noFill/>
        </p:spPr>
        <p:txBody>
          <a:bodyPr wrap="square" lIns="0" rIns="0" tIns="0" bIns="0" anchor="t">
            <a:spAutoFit/>
          </a:bodyPr>
          <a:lstStyle/>
          <a:p>
            <a:pPr algn="r">
              <a:lnSpc>
                <a:spcPct val="115000"/>
              </a:lnSpc>
              <a:spcAft>
                <a:spcPts val="0"/>
              </a:spcAft>
            </a:pPr>
            <a:r>
              <a:rPr sz="1100" b="0">
                <a:solidFill>
                  <a:srgbClr val="64748B"/>
                </a:solidFill>
                <a:latin typeface="Helvetica Neue"/>
              </a:rPr>
              <a:t>one small module per source</a:t>
            </a:r>
          </a:p>
        </p:txBody>
      </p:sp>
      <p:sp>
        <p:nvSpPr>
          <p:cNvPr id="16" name="TextBox 15"/>
          <p:cNvSpPr txBox="1"/>
          <p:nvPr/>
        </p:nvSpPr>
        <p:spPr>
          <a:xfrm>
            <a:off x="6004407" y="3356503"/>
            <a:ext cx="182880" cy="184658"/>
          </a:xfrm>
          <a:prstGeom prst="rect">
            <a:avLst/>
          </a:prstGeom>
          <a:noFill/>
        </p:spPr>
        <p:txBody>
          <a:bodyPr wrap="square" lIns="0" rIns="0" tIns="0" bIns="0" anchor="t">
            <a:spAutoFit/>
          </a:bodyPr>
          <a:lstStyle/>
          <a:p>
            <a:pPr algn="ctr">
              <a:lnSpc>
                <a:spcPct val="100000"/>
              </a:lnSpc>
              <a:spcAft>
                <a:spcPts val="0"/>
              </a:spcAft>
            </a:pPr>
            <a:r>
              <a:rPr sz="1100" b="0">
                <a:solidFill>
                  <a:srgbClr val="94A3B8"/>
                </a:solidFill>
                <a:latin typeface="Helvetica Neue"/>
              </a:rPr>
              <a:t>↓</a:t>
            </a:r>
          </a:p>
        </p:txBody>
      </p:sp>
      <p:sp>
        <p:nvSpPr>
          <p:cNvPr id="17" name="Rectangle 16"/>
          <p:cNvSpPr/>
          <p:nvPr/>
        </p:nvSpPr>
        <p:spPr>
          <a:xfrm>
            <a:off x="731520" y="3521095"/>
            <a:ext cx="10728655" cy="676656"/>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521095"/>
            <a:ext cx="45720" cy="676656"/>
          </a:xfrm>
          <a:prstGeom prst="rect">
            <a:avLst/>
          </a:prstGeom>
          <a:solidFill>
            <a:srgbClr val="123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685687"/>
            <a:ext cx="1920240" cy="251294"/>
          </a:xfrm>
          <a:prstGeom prst="rect">
            <a:avLst/>
          </a:prstGeom>
          <a:noFill/>
        </p:spPr>
        <p:txBody>
          <a:bodyPr wrap="square" lIns="0" rIns="0" tIns="0" bIns="0" anchor="t">
            <a:spAutoFit/>
          </a:bodyPr>
          <a:lstStyle/>
          <a:p>
            <a:pPr algn="l">
              <a:lnSpc>
                <a:spcPct val="110000"/>
              </a:lnSpc>
              <a:spcAft>
                <a:spcPts val="0"/>
              </a:spcAft>
            </a:pPr>
            <a:r>
              <a:rPr sz="1450" b="1">
                <a:solidFill>
                  <a:srgbClr val="0F172A"/>
                </a:solidFill>
                <a:latin typeface="Helvetica Neue"/>
              </a:rPr>
              <a:t>The database</a:t>
            </a:r>
          </a:p>
        </p:txBody>
      </p:sp>
      <p:sp>
        <p:nvSpPr>
          <p:cNvPr id="20" name="TextBox 19"/>
          <p:cNvSpPr txBox="1"/>
          <p:nvPr/>
        </p:nvSpPr>
        <p:spPr>
          <a:xfrm>
            <a:off x="3063239" y="3722263"/>
            <a:ext cx="5364327" cy="222351"/>
          </a:xfrm>
          <a:prstGeom prst="rect">
            <a:avLst/>
          </a:prstGeom>
          <a:noFill/>
        </p:spPr>
        <p:txBody>
          <a:bodyPr wrap="square" lIns="0" rIns="0" tIns="0" bIns="0" anchor="t">
            <a:spAutoFit/>
          </a:bodyPr>
          <a:lstStyle/>
          <a:p>
            <a:pPr algn="l">
              <a:lnSpc>
                <a:spcPct val="115000"/>
              </a:lnSpc>
              <a:spcAft>
                <a:spcPts val="0"/>
              </a:spcAft>
            </a:pPr>
            <a:r>
              <a:rPr sz="1200" b="0">
                <a:solidFill>
                  <a:srgbClr val="334155"/>
                </a:solidFill>
                <a:latin typeface="Helvetica Neue"/>
              </a:rPr>
              <a:t>Series, observations, releases, every past version, provenance</a:t>
            </a:r>
          </a:p>
        </p:txBody>
      </p:sp>
      <p:sp>
        <p:nvSpPr>
          <p:cNvPr id="21" name="TextBox 20"/>
          <p:cNvSpPr txBox="1"/>
          <p:nvPr/>
        </p:nvSpPr>
        <p:spPr>
          <a:xfrm>
            <a:off x="8808415" y="3722263"/>
            <a:ext cx="2377440" cy="206870"/>
          </a:xfrm>
          <a:prstGeom prst="rect">
            <a:avLst/>
          </a:prstGeom>
          <a:noFill/>
        </p:spPr>
        <p:txBody>
          <a:bodyPr wrap="square" lIns="0" rIns="0" tIns="0" bIns="0" anchor="t">
            <a:spAutoFit/>
          </a:bodyPr>
          <a:lstStyle/>
          <a:p>
            <a:pPr algn="r">
              <a:lnSpc>
                <a:spcPct val="115000"/>
              </a:lnSpc>
              <a:spcAft>
                <a:spcPts val="0"/>
              </a:spcAft>
            </a:pPr>
            <a:r>
              <a:rPr sz="1100" b="0">
                <a:solidFill>
                  <a:srgbClr val="64748B"/>
                </a:solidFill>
                <a:latin typeface="Helvetica Neue"/>
              </a:rPr>
              <a:t>one schema for everything</a:t>
            </a:r>
          </a:p>
        </p:txBody>
      </p:sp>
      <p:sp>
        <p:nvSpPr>
          <p:cNvPr id="22" name="TextBox 21"/>
          <p:cNvSpPr txBox="1"/>
          <p:nvPr/>
        </p:nvSpPr>
        <p:spPr>
          <a:xfrm>
            <a:off x="6004407" y="4179463"/>
            <a:ext cx="182880" cy="184658"/>
          </a:xfrm>
          <a:prstGeom prst="rect">
            <a:avLst/>
          </a:prstGeom>
          <a:noFill/>
        </p:spPr>
        <p:txBody>
          <a:bodyPr wrap="square" lIns="0" rIns="0" tIns="0" bIns="0" anchor="t">
            <a:spAutoFit/>
          </a:bodyPr>
          <a:lstStyle/>
          <a:p>
            <a:pPr algn="ctr">
              <a:lnSpc>
                <a:spcPct val="100000"/>
              </a:lnSpc>
              <a:spcAft>
                <a:spcPts val="0"/>
              </a:spcAft>
            </a:pPr>
            <a:r>
              <a:rPr sz="1100" b="0">
                <a:solidFill>
                  <a:srgbClr val="94A3B8"/>
                </a:solidFill>
                <a:latin typeface="Helvetica Neue"/>
              </a:rPr>
              <a:t>↓</a:t>
            </a:r>
          </a:p>
        </p:txBody>
      </p:sp>
      <p:sp>
        <p:nvSpPr>
          <p:cNvPr id="23" name="Rectangle 22"/>
          <p:cNvSpPr/>
          <p:nvPr/>
        </p:nvSpPr>
        <p:spPr>
          <a:xfrm>
            <a:off x="731520" y="4344055"/>
            <a:ext cx="10728655" cy="676656"/>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344055"/>
            <a:ext cx="45720" cy="676656"/>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508647"/>
            <a:ext cx="1920240" cy="251294"/>
          </a:xfrm>
          <a:prstGeom prst="rect">
            <a:avLst/>
          </a:prstGeom>
          <a:noFill/>
        </p:spPr>
        <p:txBody>
          <a:bodyPr wrap="square" lIns="0" rIns="0" tIns="0" bIns="0" anchor="t">
            <a:spAutoFit/>
          </a:bodyPr>
          <a:lstStyle/>
          <a:p>
            <a:pPr algn="l">
              <a:lnSpc>
                <a:spcPct val="110000"/>
              </a:lnSpc>
              <a:spcAft>
                <a:spcPts val="0"/>
              </a:spcAft>
            </a:pPr>
            <a:r>
              <a:rPr sz="1450" b="1">
                <a:solidFill>
                  <a:srgbClr val="0F172A"/>
                </a:solidFill>
                <a:latin typeface="Helvetica Neue"/>
              </a:rPr>
              <a:t>Tool layer</a:t>
            </a:r>
          </a:p>
        </p:txBody>
      </p:sp>
      <p:sp>
        <p:nvSpPr>
          <p:cNvPr id="26" name="TextBox 25"/>
          <p:cNvSpPr txBox="1"/>
          <p:nvPr/>
        </p:nvSpPr>
        <p:spPr>
          <a:xfrm>
            <a:off x="3063239" y="4545223"/>
            <a:ext cx="5364327" cy="222351"/>
          </a:xfrm>
          <a:prstGeom prst="rect">
            <a:avLst/>
          </a:prstGeom>
          <a:noFill/>
        </p:spPr>
        <p:txBody>
          <a:bodyPr wrap="square" lIns="0" rIns="0" tIns="0" bIns="0" anchor="t">
            <a:spAutoFit/>
          </a:bodyPr>
          <a:lstStyle/>
          <a:p>
            <a:pPr algn="l">
              <a:lnSpc>
                <a:spcPct val="115000"/>
              </a:lnSpc>
              <a:spcAft>
                <a:spcPts val="0"/>
              </a:spcAft>
            </a:pPr>
            <a:r>
              <a:rPr sz="1200" b="0">
                <a:solidFill>
                  <a:srgbClr val="334155"/>
                </a:solidFill>
                <a:latin typeface="Helvetica Neue"/>
              </a:rPr>
              <a:t>One set of functions that everything else is built on</a:t>
            </a:r>
          </a:p>
        </p:txBody>
      </p:sp>
      <p:sp>
        <p:nvSpPr>
          <p:cNvPr id="27" name="TextBox 26"/>
          <p:cNvSpPr txBox="1"/>
          <p:nvPr/>
        </p:nvSpPr>
        <p:spPr>
          <a:xfrm>
            <a:off x="8808415" y="4545223"/>
            <a:ext cx="2377440" cy="206870"/>
          </a:xfrm>
          <a:prstGeom prst="rect">
            <a:avLst/>
          </a:prstGeom>
          <a:noFill/>
        </p:spPr>
        <p:txBody>
          <a:bodyPr wrap="square" lIns="0" rIns="0" tIns="0" bIns="0" anchor="t">
            <a:spAutoFit/>
          </a:bodyPr>
          <a:lstStyle/>
          <a:p>
            <a:pPr algn="r">
              <a:lnSpc>
                <a:spcPct val="115000"/>
              </a:lnSpc>
              <a:spcAft>
                <a:spcPts val="0"/>
              </a:spcAft>
            </a:pPr>
            <a:r>
              <a:rPr sz="1100" b="0">
                <a:solidFill>
                  <a:srgbClr val="64748B"/>
                </a:solidFill>
                <a:latin typeface="Helvetica Neue"/>
              </a:rPr>
              <a:t>shared by every surface</a:t>
            </a:r>
          </a:p>
        </p:txBody>
      </p:sp>
      <p:sp>
        <p:nvSpPr>
          <p:cNvPr id="28" name="TextBox 27"/>
          <p:cNvSpPr txBox="1"/>
          <p:nvPr/>
        </p:nvSpPr>
        <p:spPr>
          <a:xfrm>
            <a:off x="6004407" y="5002423"/>
            <a:ext cx="182880" cy="184658"/>
          </a:xfrm>
          <a:prstGeom prst="rect">
            <a:avLst/>
          </a:prstGeom>
          <a:noFill/>
        </p:spPr>
        <p:txBody>
          <a:bodyPr wrap="square" lIns="0" rIns="0" tIns="0" bIns="0" anchor="t">
            <a:spAutoFit/>
          </a:bodyPr>
          <a:lstStyle/>
          <a:p>
            <a:pPr algn="ctr">
              <a:lnSpc>
                <a:spcPct val="100000"/>
              </a:lnSpc>
              <a:spcAft>
                <a:spcPts val="0"/>
              </a:spcAft>
            </a:pPr>
            <a:r>
              <a:rPr sz="1100" b="0">
                <a:solidFill>
                  <a:srgbClr val="94A3B8"/>
                </a:solidFill>
                <a:latin typeface="Helvetica Neue"/>
              </a:rPr>
              <a:t>↓</a:t>
            </a:r>
          </a:p>
        </p:txBody>
      </p:sp>
      <p:sp>
        <p:nvSpPr>
          <p:cNvPr id="29" name="Rectangle 28"/>
          <p:cNvSpPr/>
          <p:nvPr/>
        </p:nvSpPr>
        <p:spPr>
          <a:xfrm>
            <a:off x="731520" y="5167015"/>
            <a:ext cx="3393338" cy="896112"/>
          </a:xfrm>
          <a:prstGeom prst="rect">
            <a:avLst/>
          </a:prstGeom>
          <a:solidFill>
            <a:srgbClr val="FFFFFF"/>
          </a:solidFill>
          <a:ln w="17780">
            <a:solidFill>
              <a:srgbClr val="1A4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976" y="5349895"/>
            <a:ext cx="2954426" cy="243890"/>
          </a:xfrm>
          <a:prstGeom prst="rect">
            <a:avLst/>
          </a:prstGeom>
          <a:noFill/>
        </p:spPr>
        <p:txBody>
          <a:bodyPr wrap="square" lIns="0" rIns="0" tIns="0" bIns="0" anchor="t">
            <a:spAutoFit/>
          </a:bodyPr>
          <a:lstStyle/>
          <a:p>
            <a:pPr algn="l">
              <a:lnSpc>
                <a:spcPct val="110000"/>
              </a:lnSpc>
              <a:spcAft>
                <a:spcPts val="0"/>
              </a:spcAft>
            </a:pPr>
            <a:r>
              <a:rPr sz="1400" b="1">
                <a:solidFill>
                  <a:srgbClr val="1A4D8F"/>
                </a:solidFill>
                <a:latin typeface="Helvetica Neue"/>
              </a:rPr>
              <a:t>An API</a:t>
            </a:r>
          </a:p>
        </p:txBody>
      </p:sp>
      <p:sp>
        <p:nvSpPr>
          <p:cNvPr id="31" name="TextBox 30"/>
          <p:cNvSpPr txBox="1"/>
          <p:nvPr/>
        </p:nvSpPr>
        <p:spPr>
          <a:xfrm>
            <a:off x="950976" y="5624215"/>
            <a:ext cx="2954426" cy="391972"/>
          </a:xfrm>
          <a:prstGeom prst="rect">
            <a:avLst/>
          </a:prstGeom>
          <a:noFill/>
        </p:spPr>
        <p:txBody>
          <a:bodyPr wrap="square" lIns="0" rIns="0" tIns="0" bIns="0" anchor="t">
            <a:spAutoFit/>
          </a:bodyPr>
          <a:lstStyle/>
          <a:p>
            <a:pPr algn="l">
              <a:lnSpc>
                <a:spcPct val="120000"/>
              </a:lnSpc>
              <a:spcAft>
                <a:spcPts val="0"/>
              </a:spcAft>
            </a:pPr>
            <a:r>
              <a:rPr sz="1100" b="0">
                <a:solidFill>
                  <a:srgbClr val="334155"/>
                </a:solidFill>
                <a:latin typeface="Helvetica Neue"/>
              </a:rPr>
              <a:t>For engineers and quant teams who want the data inside their own systems.</a:t>
            </a:r>
          </a:p>
        </p:txBody>
      </p:sp>
      <p:sp>
        <p:nvSpPr>
          <p:cNvPr id="32" name="Rectangle 31"/>
          <p:cNvSpPr/>
          <p:nvPr/>
        </p:nvSpPr>
        <p:spPr>
          <a:xfrm>
            <a:off x="4399178" y="5167015"/>
            <a:ext cx="3393338" cy="896112"/>
          </a:xfrm>
          <a:prstGeom prst="rect">
            <a:avLst/>
          </a:prstGeom>
          <a:solidFill>
            <a:srgbClr val="FFFFFF"/>
          </a:solidFill>
          <a:ln w="1778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8634" y="5349895"/>
            <a:ext cx="2954426" cy="243890"/>
          </a:xfrm>
          <a:prstGeom prst="rect">
            <a:avLst/>
          </a:prstGeom>
          <a:noFill/>
        </p:spPr>
        <p:txBody>
          <a:bodyPr wrap="square" lIns="0" rIns="0" tIns="0" bIns="0" anchor="t">
            <a:spAutoFit/>
          </a:bodyPr>
          <a:lstStyle/>
          <a:p>
            <a:pPr algn="l">
              <a:lnSpc>
                <a:spcPct val="110000"/>
              </a:lnSpc>
              <a:spcAft>
                <a:spcPts val="0"/>
              </a:spcAft>
            </a:pPr>
            <a:r>
              <a:rPr sz="1400" b="1">
                <a:solidFill>
                  <a:srgbClr val="C2410C"/>
                </a:solidFill>
                <a:latin typeface="Helvetica Neue"/>
              </a:rPr>
              <a:t>An MCP server</a:t>
            </a:r>
          </a:p>
        </p:txBody>
      </p:sp>
      <p:sp>
        <p:nvSpPr>
          <p:cNvPr id="34" name="TextBox 33"/>
          <p:cNvSpPr txBox="1"/>
          <p:nvPr/>
        </p:nvSpPr>
        <p:spPr>
          <a:xfrm>
            <a:off x="4618634" y="5624215"/>
            <a:ext cx="2954426" cy="391972"/>
          </a:xfrm>
          <a:prstGeom prst="rect">
            <a:avLst/>
          </a:prstGeom>
          <a:noFill/>
        </p:spPr>
        <p:txBody>
          <a:bodyPr wrap="square" lIns="0" rIns="0" tIns="0" bIns="0" anchor="t">
            <a:spAutoFit/>
          </a:bodyPr>
          <a:lstStyle/>
          <a:p>
            <a:pPr algn="l">
              <a:lnSpc>
                <a:spcPct val="120000"/>
              </a:lnSpc>
              <a:spcAft>
                <a:spcPts val="0"/>
              </a:spcAft>
            </a:pPr>
            <a:r>
              <a:rPr sz="1100" b="0">
                <a:solidFill>
                  <a:srgbClr val="334155"/>
                </a:solidFill>
                <a:latin typeface="Helvetica Neue"/>
              </a:rPr>
              <a:t>So anyone's AI assistant can query it directly, with nothing to install.</a:t>
            </a:r>
          </a:p>
        </p:txBody>
      </p:sp>
      <p:sp>
        <p:nvSpPr>
          <p:cNvPr id="35" name="Rectangle 34"/>
          <p:cNvSpPr/>
          <p:nvPr/>
        </p:nvSpPr>
        <p:spPr>
          <a:xfrm>
            <a:off x="8066836" y="5167015"/>
            <a:ext cx="3393338" cy="896112"/>
          </a:xfrm>
          <a:prstGeom prst="rect">
            <a:avLst/>
          </a:prstGeom>
          <a:solidFill>
            <a:srgbClr val="FFFFFF"/>
          </a:solidFill>
          <a:ln w="1778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86292" y="5349895"/>
            <a:ext cx="2954426" cy="243890"/>
          </a:xfrm>
          <a:prstGeom prst="rect">
            <a:avLst/>
          </a:prstGeom>
          <a:noFill/>
        </p:spPr>
        <p:txBody>
          <a:bodyPr wrap="square" lIns="0" rIns="0" tIns="0" bIns="0" anchor="t">
            <a:spAutoFit/>
          </a:bodyPr>
          <a:lstStyle/>
          <a:p>
            <a:pPr algn="l">
              <a:lnSpc>
                <a:spcPct val="110000"/>
              </a:lnSpc>
              <a:spcAft>
                <a:spcPts val="0"/>
              </a:spcAft>
            </a:pPr>
            <a:r>
              <a:rPr sz="1400" b="1">
                <a:solidFill>
                  <a:srgbClr val="C2410C"/>
                </a:solidFill>
                <a:latin typeface="Helvetica Neue"/>
              </a:rPr>
              <a:t>Specialists</a:t>
            </a:r>
          </a:p>
        </p:txBody>
      </p:sp>
      <p:sp>
        <p:nvSpPr>
          <p:cNvPr id="37" name="TextBox 36"/>
          <p:cNvSpPr txBox="1"/>
          <p:nvPr/>
        </p:nvSpPr>
        <p:spPr>
          <a:xfrm>
            <a:off x="8286292" y="5624215"/>
            <a:ext cx="2954426" cy="391972"/>
          </a:xfrm>
          <a:prstGeom prst="rect">
            <a:avLst/>
          </a:prstGeom>
          <a:noFill/>
        </p:spPr>
        <p:txBody>
          <a:bodyPr wrap="square" lIns="0" rIns="0" tIns="0" bIns="0" anchor="t">
            <a:spAutoFit/>
          </a:bodyPr>
          <a:lstStyle/>
          <a:p>
            <a:pPr algn="l">
              <a:lnSpc>
                <a:spcPct val="120000"/>
              </a:lnSpc>
              <a:spcAft>
                <a:spcPts val="0"/>
              </a:spcAft>
            </a:pPr>
            <a:r>
              <a:rPr sz="1100" b="0">
                <a:solidFill>
                  <a:srgbClr val="334155"/>
                </a:solidFill>
                <a:latin typeface="Helvetica Neue"/>
              </a:rPr>
              <a:t>Analysts we wrote and run, which watch your companies and report back.</a:t>
            </a:r>
          </a:p>
        </p:txBody>
      </p:sp>
      <p:sp>
        <p:nvSpPr>
          <p:cNvPr id="38" name="TextBox 37"/>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WHAT WE BUILT</a:t>
            </a:r>
          </a:p>
        </p:txBody>
      </p:sp>
      <p:sp>
        <p:nvSpPr>
          <p:cNvPr id="39" name="TextBox 38"/>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What we cover</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Every listed Japanese company, six years of its filings, and the main national statistics. All of it from official sources, none of it retyped.</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ite-holdings.png"/>
          <p:cNvPicPr>
            <a:picLocks noChangeAspect="1"/>
          </p:cNvPicPr>
          <p:nvPr/>
        </p:nvPicPr>
        <p:blipFill>
          <a:blip r:embed="rId2"/>
          <a:srcRect b="44000"/>
          <a:stretch>
            <a:fillRect/>
          </a:stretch>
        </p:blipFill>
        <p:spPr>
          <a:xfrm>
            <a:off x="731520" y="1856887"/>
            <a:ext cx="5364327" cy="1877514"/>
          </a:xfrm>
          <a:prstGeom prst="rect">
            <a:avLst/>
          </a:prstGeom>
        </p:spPr>
      </p:pic>
      <p:sp>
        <p:nvSpPr>
          <p:cNvPr id="6" name="Rectangle 5"/>
          <p:cNvSpPr/>
          <p:nvPr/>
        </p:nvSpPr>
        <p:spPr>
          <a:xfrm>
            <a:off x="731520" y="1856887"/>
            <a:ext cx="5364327" cy="1877514"/>
          </a:xfrm>
          <a:prstGeom prst="rect">
            <a:avLst/>
          </a:prstGeom>
          <a:no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898993"/>
            <a:ext cx="5364327" cy="810641"/>
          </a:xfrm>
          <a:prstGeom prst="rect">
            <a:avLst/>
          </a:prstGeom>
          <a:noFill/>
        </p:spPr>
        <p:txBody>
          <a:bodyPr wrap="square" lIns="0" rIns="0" tIns="0" bIns="0" anchor="t">
            <a:spAutoFit/>
          </a:bodyPr>
          <a:lstStyle/>
          <a:p>
            <a:pPr algn="l">
              <a:lnSpc>
                <a:spcPct val="125000"/>
              </a:lnSpc>
              <a:spcAft>
                <a:spcPts val="0"/>
              </a:spcAft>
            </a:pPr>
            <a:r>
              <a:rPr sz="1150" b="0">
                <a:solidFill>
                  <a:srgbClr val="334155"/>
                </a:solidFill>
                <a:latin typeface="Helvetica Neue"/>
              </a:rPr>
              <a:t>Every cross-shareholding that every listed company discloses, with the reason it gives for holding it. About ¥59tn in total. A terminal will show you one company's disposal. It will not let you rank all of them.</a:t>
            </a:r>
          </a:p>
        </p:txBody>
      </p:sp>
      <p:sp>
        <p:nvSpPr>
          <p:cNvPr id="8" name="Rectangle 7"/>
          <p:cNvSpPr/>
          <p:nvPr/>
        </p:nvSpPr>
        <p:spPr>
          <a:xfrm>
            <a:off x="6479895" y="1856887"/>
            <a:ext cx="4980279" cy="1820265"/>
          </a:xfrm>
          <a:prstGeom prst="rect">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35927" y="2094631"/>
            <a:ext cx="4468215" cy="157734"/>
          </a:xfrm>
          <a:prstGeom prst="rect">
            <a:avLst/>
          </a:prstGeom>
          <a:noFill/>
        </p:spPr>
        <p:txBody>
          <a:bodyPr wrap="square" lIns="0" rIns="0" tIns="0" bIns="0" anchor="t">
            <a:spAutoFit/>
          </a:bodyPr>
          <a:lstStyle/>
          <a:p>
            <a:pPr algn="l">
              <a:lnSpc>
                <a:spcPct val="100000"/>
              </a:lnSpc>
              <a:spcAft>
                <a:spcPts val="0"/>
              </a:spcAft>
            </a:pPr>
            <a:r>
              <a:rPr sz="900" b="1">
                <a:solidFill>
                  <a:srgbClr val="1A4D8F"/>
                </a:solidFill>
                <a:latin typeface="Helvetica Neue"/>
              </a:rPr>
              <a:t>HOW A NEW SOURCE GETS ADDED</a:t>
            </a:r>
          </a:p>
        </p:txBody>
      </p:sp>
      <p:sp>
        <p:nvSpPr>
          <p:cNvPr id="10" name="TextBox 9"/>
          <p:cNvSpPr txBox="1"/>
          <p:nvPr/>
        </p:nvSpPr>
        <p:spPr>
          <a:xfrm>
            <a:off x="6735927" y="2380381"/>
            <a:ext cx="4468215" cy="1070457"/>
          </a:xfrm>
          <a:prstGeom prst="rect">
            <a:avLst/>
          </a:prstGeom>
          <a:noFill/>
        </p:spPr>
        <p:txBody>
          <a:bodyPr wrap="square" lIns="0" rIns="0" tIns="0" bIns="0" anchor="t">
            <a:spAutoFit/>
          </a:bodyPr>
          <a:lstStyle/>
          <a:p>
            <a:pPr algn="l">
              <a:lnSpc>
                <a:spcPct val="128000"/>
              </a:lnSpc>
              <a:spcAft>
                <a:spcPts val="0"/>
              </a:spcAft>
            </a:pPr>
            <a:r>
              <a:rPr sz="1200" b="0">
                <a:solidFill>
                  <a:srgbClr val="334155"/>
                </a:solidFill>
                <a:latin typeface="Helvetica Neue"/>
              </a:rPr>
              <a:t>Each source is one small module that downloads, parses and checks that one thing. Everything else is shared. We have never had to change the database to fit a new source, so when a customer asks for wages or rents the answer is weeks, not quarters.</a:t>
            </a:r>
          </a:p>
        </p:txBody>
      </p:sp>
      <p:sp>
        <p:nvSpPr>
          <p:cNvPr id="11" name="Rectangle 10"/>
          <p:cNvSpPr/>
          <p:nvPr/>
        </p:nvSpPr>
        <p:spPr>
          <a:xfrm>
            <a:off x="6479895" y="3878320"/>
            <a:ext cx="4980279" cy="2027041"/>
          </a:xfrm>
          <a:prstGeom prst="rect">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5927" y="4116064"/>
            <a:ext cx="4468215" cy="157734"/>
          </a:xfrm>
          <a:prstGeom prst="rect">
            <a:avLst/>
          </a:prstGeom>
          <a:noFill/>
        </p:spPr>
        <p:txBody>
          <a:bodyPr wrap="square" lIns="0" rIns="0" tIns="0" bIns="0" anchor="t">
            <a:spAutoFit/>
          </a:bodyPr>
          <a:lstStyle/>
          <a:p>
            <a:pPr algn="l">
              <a:lnSpc>
                <a:spcPct val="100000"/>
              </a:lnSpc>
              <a:spcAft>
                <a:spcPts val="0"/>
              </a:spcAft>
            </a:pPr>
            <a:r>
              <a:rPr sz="900" b="1">
                <a:solidFill>
                  <a:srgbClr val="1A4D8F"/>
                </a:solidFill>
                <a:latin typeface="Helvetica Neue"/>
              </a:rPr>
              <a:t>HOW THE FILINGS GET READ</a:t>
            </a:r>
          </a:p>
        </p:txBody>
      </p:sp>
      <p:sp>
        <p:nvSpPr>
          <p:cNvPr id="13" name="TextBox 12"/>
          <p:cNvSpPr txBox="1"/>
          <p:nvPr/>
        </p:nvSpPr>
        <p:spPr>
          <a:xfrm>
            <a:off x="6735927" y="4401814"/>
            <a:ext cx="4468215" cy="1277233"/>
          </a:xfrm>
          <a:prstGeom prst="rect">
            <a:avLst/>
          </a:prstGeom>
          <a:noFill/>
        </p:spPr>
        <p:txBody>
          <a:bodyPr wrap="square" lIns="0" rIns="0" tIns="0" bIns="0" anchor="t">
            <a:spAutoFit/>
          </a:bodyPr>
          <a:lstStyle/>
          <a:p>
            <a:pPr algn="l">
              <a:lnSpc>
                <a:spcPct val="128000"/>
              </a:lnSpc>
              <a:spcAft>
                <a:spcPts val="0"/>
              </a:spcAft>
            </a:pPr>
            <a:r>
              <a:rPr sz="1200" b="0">
                <a:solidFill>
                  <a:srgbClr val="334155"/>
                </a:solidFill>
                <a:latin typeface="Helvetica Neue"/>
              </a:rPr>
              <a:t>Getting from a 200-page securities report to a row you can sort on is most of the engineering here. The useful parts arrive as text blobs, companies write their holdings out by hand, and some filings do not add up. We handle the first two and flag the third rather than hide it.</a:t>
            </a:r>
          </a:p>
        </p:txBody>
      </p:sp>
      <p:sp>
        <p:nvSpPr>
          <p:cNvPr id="14" name="TextBox 13"/>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THE DATA</a:t>
            </a:r>
          </a:p>
        </p:txBody>
      </p:sp>
      <p:sp>
        <p:nvSpPr>
          <p:cNvPr id="15" name="TextBox 14"/>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Fix difficult formats</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A real Bank of Japan file, republished every ten days, listing every government bond it owns. Most of this was never meant to be read by a machine.</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56887"/>
            <a:ext cx="4935181" cy="310896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66615"/>
            <a:ext cx="4605997" cy="151003"/>
          </a:xfrm>
          <a:prstGeom prst="rect">
            <a:avLst/>
          </a:prstGeom>
          <a:noFill/>
        </p:spPr>
        <p:txBody>
          <a:bodyPr wrap="square" lIns="0" rIns="0" tIns="0" bIns="0" anchor="t">
            <a:spAutoFit/>
          </a:bodyPr>
          <a:lstStyle/>
          <a:p>
            <a:pPr algn="l">
              <a:lnSpc>
                <a:spcPct val="100000"/>
              </a:lnSpc>
              <a:spcAft>
                <a:spcPts val="0"/>
              </a:spcAft>
            </a:pPr>
            <a:r>
              <a:rPr sz="850" b="1">
                <a:solidFill>
                  <a:srgbClr val="64748B"/>
                </a:solidFill>
                <a:latin typeface="Helvetica Neue"/>
              </a:rPr>
              <a:t>MEI260831.XLSX, AS PUBLISHED</a:t>
            </a:r>
          </a:p>
        </p:txBody>
      </p:sp>
      <p:sp>
        <p:nvSpPr>
          <p:cNvPr id="7" name="TextBox 6"/>
          <p:cNvSpPr txBox="1"/>
          <p:nvPr/>
        </p:nvSpPr>
        <p:spPr>
          <a:xfrm>
            <a:off x="896112" y="2204359"/>
            <a:ext cx="4041648" cy="144272"/>
          </a:xfrm>
          <a:prstGeom prst="rect">
            <a:avLst/>
          </a:prstGeom>
          <a:noFill/>
        </p:spPr>
        <p:txBody>
          <a:bodyPr wrap="square" lIns="0" rIns="0" tIns="0" bIns="0" anchor="t">
            <a:spAutoFit/>
          </a:bodyPr>
          <a:lstStyle/>
          <a:p>
            <a:pPr algn="r">
              <a:lnSpc>
                <a:spcPct val="100000"/>
              </a:lnSpc>
              <a:spcAft>
                <a:spcPts val="0"/>
              </a:spcAft>
            </a:pPr>
            <a:r>
              <a:rPr sz="800" b="0">
                <a:solidFill>
                  <a:srgbClr val="64748B"/>
                </a:solidFill>
                <a:latin typeface="Helvetica Neue"/>
              </a:rPr>
              <a:t>（単位：億円）</a:t>
            </a:r>
          </a:p>
        </p:txBody>
      </p:sp>
      <p:sp>
        <p:nvSpPr>
          <p:cNvPr id="8" name="TextBox 7"/>
          <p:cNvSpPr txBox="1"/>
          <p:nvPr/>
        </p:nvSpPr>
        <p:spPr>
          <a:xfrm>
            <a:off x="896112" y="2350663"/>
            <a:ext cx="4041648" cy="144272"/>
          </a:xfrm>
          <a:prstGeom prst="rect">
            <a:avLst/>
          </a:prstGeom>
          <a:noFill/>
        </p:spPr>
        <p:txBody>
          <a:bodyPr wrap="square" lIns="0" rIns="0" tIns="0" bIns="0" anchor="t">
            <a:spAutoFit/>
          </a:bodyPr>
          <a:lstStyle/>
          <a:p>
            <a:pPr algn="r">
              <a:lnSpc>
                <a:spcPct val="100000"/>
              </a:lnSpc>
              <a:spcAft>
                <a:spcPts val="0"/>
              </a:spcAft>
            </a:pPr>
            <a:r>
              <a:rPr sz="800" b="0">
                <a:solidFill>
                  <a:srgbClr val="64748B"/>
                </a:solidFill>
                <a:latin typeface="Helvetica Neue"/>
              </a:rPr>
              <a:t>(100 million yen)</a:t>
            </a:r>
          </a:p>
        </p:txBody>
      </p:sp>
      <p:sp>
        <p:nvSpPr>
          <p:cNvPr id="9" name="Rectangle 8"/>
          <p:cNvSpPr/>
          <p:nvPr/>
        </p:nvSpPr>
        <p:spPr>
          <a:xfrm>
            <a:off x="896112" y="2570119"/>
            <a:ext cx="4041648" cy="173736"/>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95722"/>
            <a:ext cx="603504" cy="137541"/>
          </a:xfrm>
          <a:prstGeom prst="rect">
            <a:avLst/>
          </a:prstGeom>
          <a:noFill/>
        </p:spPr>
        <p:txBody>
          <a:bodyPr wrap="square" lIns="0" rIns="0" tIns="0" bIns="0" anchor="t">
            <a:spAutoFit/>
          </a:bodyPr>
          <a:lstStyle/>
          <a:p>
            <a:pPr algn="ctr">
              <a:lnSpc>
                <a:spcPct val="100000"/>
              </a:lnSpc>
              <a:spcAft>
                <a:spcPts val="0"/>
              </a:spcAft>
            </a:pPr>
            <a:r>
              <a:rPr sz="750" b="0">
                <a:solidFill>
                  <a:srgbClr val="94A3B8"/>
                </a:solidFill>
                <a:latin typeface="Helvetica Neue"/>
              </a:rPr>
              <a:t>B</a:t>
            </a:r>
          </a:p>
        </p:txBody>
      </p:sp>
      <p:sp>
        <p:nvSpPr>
          <p:cNvPr id="11" name="TextBox 10"/>
          <p:cNvSpPr txBox="1"/>
          <p:nvPr/>
        </p:nvSpPr>
        <p:spPr>
          <a:xfrm>
            <a:off x="1499616" y="2595722"/>
            <a:ext cx="1152144" cy="137541"/>
          </a:xfrm>
          <a:prstGeom prst="rect">
            <a:avLst/>
          </a:prstGeom>
          <a:noFill/>
        </p:spPr>
        <p:txBody>
          <a:bodyPr wrap="square" lIns="0" rIns="0" tIns="0" bIns="0" anchor="t">
            <a:spAutoFit/>
          </a:bodyPr>
          <a:lstStyle/>
          <a:p>
            <a:pPr algn="ctr">
              <a:lnSpc>
                <a:spcPct val="100000"/>
              </a:lnSpc>
              <a:spcAft>
                <a:spcPts val="0"/>
              </a:spcAft>
            </a:pPr>
            <a:r>
              <a:rPr sz="750" b="0">
                <a:solidFill>
                  <a:srgbClr val="94A3B8"/>
                </a:solidFill>
                <a:latin typeface="Helvetica Neue"/>
              </a:rPr>
              <a:t>C</a:t>
            </a:r>
          </a:p>
        </p:txBody>
      </p:sp>
      <p:sp>
        <p:nvSpPr>
          <p:cNvPr id="12" name="TextBox 11"/>
          <p:cNvSpPr txBox="1"/>
          <p:nvPr/>
        </p:nvSpPr>
        <p:spPr>
          <a:xfrm>
            <a:off x="2651760" y="2595722"/>
            <a:ext cx="896112" cy="137541"/>
          </a:xfrm>
          <a:prstGeom prst="rect">
            <a:avLst/>
          </a:prstGeom>
          <a:noFill/>
        </p:spPr>
        <p:txBody>
          <a:bodyPr wrap="square" lIns="0" rIns="0" tIns="0" bIns="0" anchor="t">
            <a:spAutoFit/>
          </a:bodyPr>
          <a:lstStyle/>
          <a:p>
            <a:pPr algn="ctr">
              <a:lnSpc>
                <a:spcPct val="100000"/>
              </a:lnSpc>
              <a:spcAft>
                <a:spcPts val="0"/>
              </a:spcAft>
            </a:pPr>
            <a:r>
              <a:rPr sz="750" b="0">
                <a:solidFill>
                  <a:srgbClr val="94A3B8"/>
                </a:solidFill>
                <a:latin typeface="Helvetica Neue"/>
              </a:rPr>
              <a:t>D</a:t>
            </a:r>
          </a:p>
        </p:txBody>
      </p:sp>
      <p:sp>
        <p:nvSpPr>
          <p:cNvPr id="13" name="TextBox 12"/>
          <p:cNvSpPr txBox="1"/>
          <p:nvPr/>
        </p:nvSpPr>
        <p:spPr>
          <a:xfrm>
            <a:off x="3547872" y="2595722"/>
            <a:ext cx="1389888" cy="137541"/>
          </a:xfrm>
          <a:prstGeom prst="rect">
            <a:avLst/>
          </a:prstGeom>
          <a:noFill/>
        </p:spPr>
        <p:txBody>
          <a:bodyPr wrap="square" lIns="0" rIns="0" tIns="0" bIns="0" anchor="t">
            <a:spAutoFit/>
          </a:bodyPr>
          <a:lstStyle/>
          <a:p>
            <a:pPr algn="ctr">
              <a:lnSpc>
                <a:spcPct val="100000"/>
              </a:lnSpc>
              <a:spcAft>
                <a:spcPts val="0"/>
              </a:spcAft>
            </a:pPr>
            <a:r>
              <a:rPr sz="750" b="0">
                <a:solidFill>
                  <a:srgbClr val="94A3B8"/>
                </a:solidFill>
                <a:latin typeface="Helvetica Neue"/>
              </a:rPr>
              <a:t>E</a:t>
            </a:r>
          </a:p>
        </p:txBody>
      </p:sp>
      <p:sp>
        <p:nvSpPr>
          <p:cNvPr id="14" name="Rectangle 13"/>
          <p:cNvSpPr/>
          <p:nvPr/>
        </p:nvSpPr>
        <p:spPr>
          <a:xfrm>
            <a:off x="896112" y="2771287"/>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499616" y="2771287"/>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45336" y="2812435"/>
            <a:ext cx="1060704"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銘柄</a:t>
            </a:r>
          </a:p>
        </p:txBody>
      </p:sp>
      <p:sp>
        <p:nvSpPr>
          <p:cNvPr id="17" name="Rectangle 16"/>
          <p:cNvSpPr/>
          <p:nvPr/>
        </p:nvSpPr>
        <p:spPr>
          <a:xfrm>
            <a:off x="2651760" y="2771287"/>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97480" y="2812435"/>
            <a:ext cx="804672"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回号</a:t>
            </a:r>
          </a:p>
        </p:txBody>
      </p:sp>
      <p:sp>
        <p:nvSpPr>
          <p:cNvPr id="19" name="Rectangle 18"/>
          <p:cNvSpPr/>
          <p:nvPr/>
        </p:nvSpPr>
        <p:spPr>
          <a:xfrm>
            <a:off x="3547872" y="2771287"/>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93592" y="2812435"/>
            <a:ext cx="1298448"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保有残高</a:t>
            </a:r>
          </a:p>
        </p:txBody>
      </p:sp>
      <p:sp>
        <p:nvSpPr>
          <p:cNvPr id="21" name="Rectangle 20"/>
          <p:cNvSpPr/>
          <p:nvPr/>
        </p:nvSpPr>
        <p:spPr>
          <a:xfrm>
            <a:off x="896112" y="2966054"/>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99616" y="2966054"/>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45336" y="3007202"/>
            <a:ext cx="1060704"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Issue</a:t>
            </a:r>
          </a:p>
        </p:txBody>
      </p:sp>
      <p:sp>
        <p:nvSpPr>
          <p:cNvPr id="24" name="Rectangle 23"/>
          <p:cNvSpPr/>
          <p:nvPr/>
        </p:nvSpPr>
        <p:spPr>
          <a:xfrm>
            <a:off x="2651760" y="2966054"/>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97480" y="3007202"/>
            <a:ext cx="804672"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Issue Number</a:t>
            </a:r>
          </a:p>
        </p:txBody>
      </p:sp>
      <p:sp>
        <p:nvSpPr>
          <p:cNvPr id="26" name="Rectangle 25"/>
          <p:cNvSpPr/>
          <p:nvPr/>
        </p:nvSpPr>
        <p:spPr>
          <a:xfrm>
            <a:off x="3547872" y="2966054"/>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3592" y="3007202"/>
            <a:ext cx="1298448"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Amount Outstanding</a:t>
            </a:r>
          </a:p>
        </p:txBody>
      </p:sp>
      <p:sp>
        <p:nvSpPr>
          <p:cNvPr id="28" name="Rectangle 27"/>
          <p:cNvSpPr/>
          <p:nvPr/>
        </p:nvSpPr>
        <p:spPr>
          <a:xfrm>
            <a:off x="896112" y="3160821"/>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99616" y="3160821"/>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45336" y="3201969"/>
            <a:ext cx="1060704"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2年債</a:t>
            </a:r>
          </a:p>
        </p:txBody>
      </p:sp>
      <p:sp>
        <p:nvSpPr>
          <p:cNvPr id="31" name="Rectangle 30"/>
          <p:cNvSpPr/>
          <p:nvPr/>
        </p:nvSpPr>
        <p:spPr>
          <a:xfrm>
            <a:off x="2651760" y="3160821"/>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97480" y="3201969"/>
            <a:ext cx="804672"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464</a:t>
            </a:r>
          </a:p>
        </p:txBody>
      </p:sp>
      <p:sp>
        <p:nvSpPr>
          <p:cNvPr id="33" name="Rectangle 32"/>
          <p:cNvSpPr/>
          <p:nvPr/>
        </p:nvSpPr>
        <p:spPr>
          <a:xfrm>
            <a:off x="3547872" y="3160821"/>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93592" y="3201969"/>
            <a:ext cx="1298448"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14,875</a:t>
            </a:r>
          </a:p>
        </p:txBody>
      </p:sp>
      <p:sp>
        <p:nvSpPr>
          <p:cNvPr id="35" name="Rectangle 34"/>
          <p:cNvSpPr/>
          <p:nvPr/>
        </p:nvSpPr>
        <p:spPr>
          <a:xfrm>
            <a:off x="896112" y="3355588"/>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499616" y="3355588"/>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45336" y="3396736"/>
            <a:ext cx="1060704"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2-Year JGB</a:t>
            </a:r>
          </a:p>
        </p:txBody>
      </p:sp>
      <p:sp>
        <p:nvSpPr>
          <p:cNvPr id="38" name="Rectangle 37"/>
          <p:cNvSpPr/>
          <p:nvPr/>
        </p:nvSpPr>
        <p:spPr>
          <a:xfrm>
            <a:off x="2651760" y="3355588"/>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97480" y="3396736"/>
            <a:ext cx="804672"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465</a:t>
            </a:r>
          </a:p>
        </p:txBody>
      </p:sp>
      <p:sp>
        <p:nvSpPr>
          <p:cNvPr id="40" name="Rectangle 39"/>
          <p:cNvSpPr/>
          <p:nvPr/>
        </p:nvSpPr>
        <p:spPr>
          <a:xfrm>
            <a:off x="3547872" y="3355588"/>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93592" y="3396736"/>
            <a:ext cx="1298448"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12,234</a:t>
            </a:r>
          </a:p>
        </p:txBody>
      </p:sp>
      <p:sp>
        <p:nvSpPr>
          <p:cNvPr id="42" name="Rectangle 41"/>
          <p:cNvSpPr/>
          <p:nvPr/>
        </p:nvSpPr>
        <p:spPr>
          <a:xfrm>
            <a:off x="896112" y="3550356"/>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499616" y="3550356"/>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651760" y="3550356"/>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97480" y="3591504"/>
            <a:ext cx="804672"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466</a:t>
            </a:r>
          </a:p>
        </p:txBody>
      </p:sp>
      <p:sp>
        <p:nvSpPr>
          <p:cNvPr id="46" name="Rectangle 45"/>
          <p:cNvSpPr/>
          <p:nvPr/>
        </p:nvSpPr>
        <p:spPr>
          <a:xfrm>
            <a:off x="3547872" y="3550356"/>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93592" y="3591504"/>
            <a:ext cx="1298448"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7,884</a:t>
            </a:r>
          </a:p>
        </p:txBody>
      </p:sp>
      <p:sp>
        <p:nvSpPr>
          <p:cNvPr id="48" name="Rectangle 47"/>
          <p:cNvSpPr/>
          <p:nvPr/>
        </p:nvSpPr>
        <p:spPr>
          <a:xfrm>
            <a:off x="896112" y="3745123"/>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499616" y="3745123"/>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651760" y="3745123"/>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697480" y="3786271"/>
            <a:ext cx="804672"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467</a:t>
            </a:r>
          </a:p>
        </p:txBody>
      </p:sp>
      <p:sp>
        <p:nvSpPr>
          <p:cNvPr id="52" name="Rectangle 51"/>
          <p:cNvSpPr/>
          <p:nvPr/>
        </p:nvSpPr>
        <p:spPr>
          <a:xfrm>
            <a:off x="3547872" y="3745123"/>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93592" y="3786271"/>
            <a:ext cx="1298448"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6,029</a:t>
            </a:r>
          </a:p>
        </p:txBody>
      </p:sp>
      <p:sp>
        <p:nvSpPr>
          <p:cNvPr id="54" name="Rectangle 53"/>
          <p:cNvSpPr/>
          <p:nvPr/>
        </p:nvSpPr>
        <p:spPr>
          <a:xfrm>
            <a:off x="896112" y="3939890"/>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499616" y="3939890"/>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651760" y="3939890"/>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697480" y="3981038"/>
            <a:ext cx="804672"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a:t>
            </a:r>
          </a:p>
        </p:txBody>
      </p:sp>
      <p:sp>
        <p:nvSpPr>
          <p:cNvPr id="58" name="Rectangle 57"/>
          <p:cNvSpPr/>
          <p:nvPr/>
        </p:nvSpPr>
        <p:spPr>
          <a:xfrm>
            <a:off x="3547872" y="3939890"/>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593592" y="3981038"/>
            <a:ext cx="1298448"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a:t>
            </a:r>
          </a:p>
        </p:txBody>
      </p:sp>
      <p:sp>
        <p:nvSpPr>
          <p:cNvPr id="60" name="Rectangle 59"/>
          <p:cNvSpPr/>
          <p:nvPr/>
        </p:nvSpPr>
        <p:spPr>
          <a:xfrm>
            <a:off x="896112" y="4134657"/>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499616" y="4134657"/>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545336" y="4175805"/>
            <a:ext cx="1060704"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5年債</a:t>
            </a:r>
          </a:p>
        </p:txBody>
      </p:sp>
      <p:sp>
        <p:nvSpPr>
          <p:cNvPr id="63" name="Rectangle 62"/>
          <p:cNvSpPr/>
          <p:nvPr/>
        </p:nvSpPr>
        <p:spPr>
          <a:xfrm>
            <a:off x="2651760" y="4134657"/>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97480" y="4175805"/>
            <a:ext cx="804672"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149</a:t>
            </a:r>
          </a:p>
        </p:txBody>
      </p:sp>
      <p:sp>
        <p:nvSpPr>
          <p:cNvPr id="65" name="Rectangle 64"/>
          <p:cNvSpPr/>
          <p:nvPr/>
        </p:nvSpPr>
        <p:spPr>
          <a:xfrm>
            <a:off x="3547872" y="4134657"/>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593592" y="4175805"/>
            <a:ext cx="1298448"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66,733</a:t>
            </a:r>
          </a:p>
        </p:txBody>
      </p:sp>
      <p:sp>
        <p:nvSpPr>
          <p:cNvPr id="67" name="Rectangle 66"/>
          <p:cNvSpPr/>
          <p:nvPr/>
        </p:nvSpPr>
        <p:spPr>
          <a:xfrm>
            <a:off x="896112" y="4329424"/>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499616" y="4329424"/>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545336" y="4370572"/>
            <a:ext cx="1060704" cy="144272"/>
          </a:xfrm>
          <a:prstGeom prst="rect">
            <a:avLst/>
          </a:prstGeom>
          <a:noFill/>
        </p:spPr>
        <p:txBody>
          <a:bodyPr wrap="square" lIns="0" rIns="0" tIns="0" bIns="0" anchor="t">
            <a:spAutoFit/>
          </a:bodyPr>
          <a:lstStyle/>
          <a:p>
            <a:pPr algn="l">
              <a:lnSpc>
                <a:spcPct val="100000"/>
              </a:lnSpc>
              <a:spcAft>
                <a:spcPts val="0"/>
              </a:spcAft>
            </a:pPr>
            <a:r>
              <a:rPr sz="800" b="0">
                <a:solidFill>
                  <a:srgbClr val="0F172A"/>
                </a:solidFill>
                <a:latin typeface="Helvetica Neue"/>
              </a:rPr>
              <a:t>5-Year JGB</a:t>
            </a:r>
          </a:p>
        </p:txBody>
      </p:sp>
      <p:sp>
        <p:nvSpPr>
          <p:cNvPr id="70" name="Rectangle 69"/>
          <p:cNvSpPr/>
          <p:nvPr/>
        </p:nvSpPr>
        <p:spPr>
          <a:xfrm>
            <a:off x="2651760" y="4329424"/>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97480" y="4370572"/>
            <a:ext cx="804672"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150</a:t>
            </a:r>
          </a:p>
        </p:txBody>
      </p:sp>
      <p:sp>
        <p:nvSpPr>
          <p:cNvPr id="72" name="Rectangle 71"/>
          <p:cNvSpPr/>
          <p:nvPr/>
        </p:nvSpPr>
        <p:spPr>
          <a:xfrm>
            <a:off x="3547872" y="4329424"/>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593592" y="4370572"/>
            <a:ext cx="1298448"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57,060</a:t>
            </a:r>
          </a:p>
        </p:txBody>
      </p:sp>
      <p:sp>
        <p:nvSpPr>
          <p:cNvPr id="74" name="Rectangle 73"/>
          <p:cNvSpPr/>
          <p:nvPr/>
        </p:nvSpPr>
        <p:spPr>
          <a:xfrm>
            <a:off x="896112" y="4524192"/>
            <a:ext cx="60350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499616" y="4524192"/>
            <a:ext cx="1152144"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651760" y="4524192"/>
            <a:ext cx="896112"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697480" y="4565340"/>
            <a:ext cx="804672"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151</a:t>
            </a:r>
          </a:p>
        </p:txBody>
      </p:sp>
      <p:sp>
        <p:nvSpPr>
          <p:cNvPr id="78" name="Rectangle 77"/>
          <p:cNvSpPr/>
          <p:nvPr/>
        </p:nvSpPr>
        <p:spPr>
          <a:xfrm>
            <a:off x="3547872" y="4524192"/>
            <a:ext cx="1389888" cy="194767"/>
          </a:xfrm>
          <a:prstGeom prst="rect">
            <a:avLst/>
          </a:prstGeom>
          <a:noFill/>
          <a:ln w="6350">
            <a:solidFill>
              <a:srgbClr val="E8EC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593592" y="4565340"/>
            <a:ext cx="1298448" cy="144272"/>
          </a:xfrm>
          <a:prstGeom prst="rect">
            <a:avLst/>
          </a:prstGeom>
          <a:noFill/>
        </p:spPr>
        <p:txBody>
          <a:bodyPr wrap="square" lIns="0" rIns="0" tIns="0" bIns="0" anchor="t">
            <a:spAutoFit/>
          </a:bodyPr>
          <a:lstStyle/>
          <a:p>
            <a:pPr algn="r">
              <a:lnSpc>
                <a:spcPct val="100000"/>
              </a:lnSpc>
              <a:spcAft>
                <a:spcPts val="0"/>
              </a:spcAft>
            </a:pPr>
            <a:r>
              <a:rPr sz="800" b="0">
                <a:solidFill>
                  <a:srgbClr val="0F172A"/>
                </a:solidFill>
                <a:latin typeface="Helvetica Neue"/>
              </a:rPr>
              <a:t>36,523</a:t>
            </a:r>
          </a:p>
        </p:txBody>
      </p:sp>
      <p:sp>
        <p:nvSpPr>
          <p:cNvPr id="80" name="TextBox 79"/>
          <p:cNvSpPr txBox="1"/>
          <p:nvPr/>
        </p:nvSpPr>
        <p:spPr>
          <a:xfrm>
            <a:off x="5029200" y="2643271"/>
            <a:ext cx="637501" cy="828141"/>
          </a:xfrm>
          <a:prstGeom prst="rect">
            <a:avLst/>
          </a:prstGeom>
          <a:noFill/>
        </p:spPr>
        <p:txBody>
          <a:bodyPr wrap="square" lIns="0" rIns="0" tIns="0" bIns="0" anchor="t">
            <a:spAutoFit/>
          </a:bodyPr>
          <a:lstStyle/>
          <a:p>
            <a:pPr algn="l">
              <a:lnSpc>
                <a:spcPct val="120000"/>
              </a:lnSpc>
              <a:spcAft>
                <a:spcPts val="0"/>
              </a:spcAft>
            </a:pPr>
            <a:r>
              <a:rPr sz="850" b="0">
                <a:solidFill>
                  <a:srgbClr val="C2410C"/>
                </a:solidFill>
                <a:latin typeface="Menlo"/>
              </a:rPr>
              <a:t>###########</a:t>
            </a:r>
          </a:p>
          <a:p>
            <a:pPr algn="l">
              <a:lnSpc>
                <a:spcPct val="120000"/>
              </a:lnSpc>
              <a:spcAft>
                <a:spcPts val="0"/>
              </a:spcAft>
            </a:pPr>
            <a:r>
              <a:rPr sz="800" b="0">
                <a:solidFill>
                  <a:srgbClr val="64748B"/>
                </a:solidFill>
                <a:latin typeface="Helvetica Neue"/>
              </a:rPr>
              <a:t>a column too narrow</a:t>
            </a:r>
          </a:p>
          <a:p>
            <a:pPr algn="l">
              <a:lnSpc>
                <a:spcPct val="120000"/>
              </a:lnSpc>
              <a:spcAft>
                <a:spcPts val="0"/>
              </a:spcAft>
            </a:pPr>
            <a:r>
              <a:rPr sz="800" b="0">
                <a:solidFill>
                  <a:srgbClr val="64748B"/>
                </a:solidFill>
                <a:latin typeface="Helvetica Neue"/>
              </a:rPr>
              <a:t>for its own date</a:t>
            </a:r>
          </a:p>
        </p:txBody>
      </p:sp>
      <p:sp>
        <p:nvSpPr>
          <p:cNvPr id="81" name="TextBox 80"/>
          <p:cNvSpPr txBox="1"/>
          <p:nvPr/>
        </p:nvSpPr>
        <p:spPr>
          <a:xfrm>
            <a:off x="731520" y="5057287"/>
            <a:ext cx="4935181" cy="171196"/>
          </a:xfrm>
          <a:prstGeom prst="rect">
            <a:avLst/>
          </a:prstGeom>
          <a:noFill/>
        </p:spPr>
        <p:txBody>
          <a:bodyPr wrap="square" lIns="0" rIns="0" tIns="0" bIns="0" anchor="t">
            <a:spAutoFit/>
          </a:bodyPr>
          <a:lstStyle/>
          <a:p>
            <a:pPr algn="l">
              <a:lnSpc>
                <a:spcPct val="100000"/>
              </a:lnSpc>
              <a:spcAft>
                <a:spcPts val="0"/>
              </a:spcAft>
            </a:pPr>
            <a:r>
              <a:rPr sz="1000" b="0">
                <a:solidFill>
                  <a:srgbClr val="64748B"/>
                </a:solidFill>
                <a:latin typeface="Helvetica Neue"/>
              </a:rPr>
              <a:t>339 issues · 9 bond types · ¥517.7tn · reissued every ten days</a:t>
            </a:r>
          </a:p>
        </p:txBody>
      </p:sp>
      <p:sp>
        <p:nvSpPr>
          <p:cNvPr id="82" name="TextBox 81"/>
          <p:cNvSpPr txBox="1"/>
          <p:nvPr/>
        </p:nvSpPr>
        <p:spPr>
          <a:xfrm>
            <a:off x="6050749" y="1856887"/>
            <a:ext cx="5409425" cy="157734"/>
          </a:xfrm>
          <a:prstGeom prst="rect">
            <a:avLst/>
          </a:prstGeom>
          <a:noFill/>
        </p:spPr>
        <p:txBody>
          <a:bodyPr wrap="square" lIns="0" rIns="0" tIns="0" bIns="0" anchor="t">
            <a:spAutoFit/>
          </a:bodyPr>
          <a:lstStyle/>
          <a:p>
            <a:pPr algn="l">
              <a:lnSpc>
                <a:spcPct val="100000"/>
              </a:lnSpc>
              <a:spcAft>
                <a:spcPts val="0"/>
              </a:spcAft>
            </a:pPr>
            <a:r>
              <a:rPr sz="900" b="1">
                <a:solidFill>
                  <a:srgbClr val="1A4D8F"/>
                </a:solidFill>
                <a:latin typeface="Helvetica Neue"/>
              </a:rPr>
              <a:t>WHAT A PARSER HAS TO WORK OUT</a:t>
            </a:r>
          </a:p>
        </p:txBody>
      </p:sp>
      <p:sp>
        <p:nvSpPr>
          <p:cNvPr id="83" name="TextBox 82"/>
          <p:cNvSpPr txBox="1"/>
          <p:nvPr/>
        </p:nvSpPr>
        <p:spPr>
          <a:xfrm>
            <a:off x="6050749" y="2215789"/>
            <a:ext cx="201168" cy="206870"/>
          </a:xfrm>
          <a:prstGeom prst="rect">
            <a:avLst/>
          </a:prstGeom>
          <a:noFill/>
        </p:spPr>
        <p:txBody>
          <a:bodyPr wrap="square" lIns="0" rIns="0" tIns="0" bIns="0" anchor="t">
            <a:spAutoFit/>
          </a:bodyPr>
          <a:lstStyle/>
          <a:p>
            <a:pPr algn="l">
              <a:lnSpc>
                <a:spcPct val="115000"/>
              </a:lnSpc>
              <a:spcAft>
                <a:spcPts val="0"/>
              </a:spcAft>
            </a:pPr>
            <a:r>
              <a:rPr sz="1100" b="1">
                <a:solidFill>
                  <a:srgbClr val="94A3B8"/>
                </a:solidFill>
                <a:latin typeface="Helvetica Neue"/>
              </a:rPr>
              <a:t>1</a:t>
            </a:r>
          </a:p>
        </p:txBody>
      </p:sp>
      <p:sp>
        <p:nvSpPr>
          <p:cNvPr id="84" name="TextBox 83"/>
          <p:cNvSpPr txBox="1"/>
          <p:nvPr/>
        </p:nvSpPr>
        <p:spPr>
          <a:xfrm>
            <a:off x="6306781" y="2215789"/>
            <a:ext cx="5153393" cy="430743"/>
          </a:xfrm>
          <a:prstGeom prst="rect">
            <a:avLst/>
          </a:prstGeom>
          <a:noFill/>
        </p:spPr>
        <p:txBody>
          <a:bodyPr wrap="square" lIns="0" rIns="0" tIns="0" bIns="0" anchor="t">
            <a:spAutoFit/>
          </a:bodyPr>
          <a:lstStyle/>
          <a:p>
            <a:pPr algn="l">
              <a:lnSpc>
                <a:spcPct val="122000"/>
              </a:lnSpc>
              <a:spcAft>
                <a:spcPts val="0"/>
              </a:spcAft>
            </a:pPr>
            <a:r>
              <a:rPr sz="1200" b="1">
                <a:solidFill>
                  <a:srgbClr val="0F172A"/>
                </a:solidFill>
                <a:latin typeface="Helvetica Neue"/>
              </a:rPr>
              <a:t>Fifteen rows of furniture first. </a:t>
            </a:r>
            <a:r>
              <a:rPr sz="1200" b="0">
                <a:solidFill>
                  <a:srgbClr val="334155"/>
                </a:solidFill>
                <a:latin typeface="Helvetica Neue"/>
              </a:rPr>
              <a:t>Titles, a department, a phone number and the units, before any data starts.</a:t>
            </a:r>
          </a:p>
        </p:txBody>
      </p:sp>
      <p:sp>
        <p:nvSpPr>
          <p:cNvPr id="85" name="TextBox 84"/>
          <p:cNvSpPr txBox="1"/>
          <p:nvPr/>
        </p:nvSpPr>
        <p:spPr>
          <a:xfrm>
            <a:off x="6050749" y="2811124"/>
            <a:ext cx="201168" cy="206870"/>
          </a:xfrm>
          <a:prstGeom prst="rect">
            <a:avLst/>
          </a:prstGeom>
          <a:noFill/>
        </p:spPr>
        <p:txBody>
          <a:bodyPr wrap="square" lIns="0" rIns="0" tIns="0" bIns="0" anchor="t">
            <a:spAutoFit/>
          </a:bodyPr>
          <a:lstStyle/>
          <a:p>
            <a:pPr algn="l">
              <a:lnSpc>
                <a:spcPct val="115000"/>
              </a:lnSpc>
              <a:spcAft>
                <a:spcPts val="0"/>
              </a:spcAft>
            </a:pPr>
            <a:r>
              <a:rPr sz="1100" b="1">
                <a:solidFill>
                  <a:srgbClr val="94A3B8"/>
                </a:solidFill>
                <a:latin typeface="Helvetica Neue"/>
              </a:rPr>
              <a:t>2</a:t>
            </a:r>
          </a:p>
        </p:txBody>
      </p:sp>
      <p:sp>
        <p:nvSpPr>
          <p:cNvPr id="86" name="TextBox 85"/>
          <p:cNvSpPr txBox="1"/>
          <p:nvPr/>
        </p:nvSpPr>
        <p:spPr>
          <a:xfrm>
            <a:off x="6306781" y="2811124"/>
            <a:ext cx="5153393" cy="430743"/>
          </a:xfrm>
          <a:prstGeom prst="rect">
            <a:avLst/>
          </a:prstGeom>
          <a:noFill/>
        </p:spPr>
        <p:txBody>
          <a:bodyPr wrap="square" lIns="0" rIns="0" tIns="0" bIns="0" anchor="t">
            <a:spAutoFit/>
          </a:bodyPr>
          <a:lstStyle/>
          <a:p>
            <a:pPr algn="l">
              <a:lnSpc>
                <a:spcPct val="122000"/>
              </a:lnSpc>
              <a:spcAft>
                <a:spcPts val="0"/>
              </a:spcAft>
            </a:pPr>
            <a:r>
              <a:rPr sz="1200" b="1">
                <a:solidFill>
                  <a:srgbClr val="0F172A"/>
                </a:solidFill>
                <a:latin typeface="Helvetica Neue"/>
              </a:rPr>
              <a:t>257 columns, six of them used. </a:t>
            </a:r>
            <a:r>
              <a:rPr sz="1200" b="0">
                <a:solidFill>
                  <a:srgbClr val="334155"/>
                </a:solidFill>
                <a:latin typeface="Helvetica Neue"/>
              </a:rPr>
              <a:t>The rest are empty and have to be ignored rather than trusted.</a:t>
            </a:r>
          </a:p>
        </p:txBody>
      </p:sp>
      <p:sp>
        <p:nvSpPr>
          <p:cNvPr id="87" name="TextBox 86"/>
          <p:cNvSpPr txBox="1"/>
          <p:nvPr/>
        </p:nvSpPr>
        <p:spPr>
          <a:xfrm>
            <a:off x="6050749" y="3406460"/>
            <a:ext cx="201168" cy="206870"/>
          </a:xfrm>
          <a:prstGeom prst="rect">
            <a:avLst/>
          </a:prstGeom>
          <a:noFill/>
        </p:spPr>
        <p:txBody>
          <a:bodyPr wrap="square" lIns="0" rIns="0" tIns="0" bIns="0" anchor="t">
            <a:spAutoFit/>
          </a:bodyPr>
          <a:lstStyle/>
          <a:p>
            <a:pPr algn="l">
              <a:lnSpc>
                <a:spcPct val="115000"/>
              </a:lnSpc>
              <a:spcAft>
                <a:spcPts val="0"/>
              </a:spcAft>
            </a:pPr>
            <a:r>
              <a:rPr sz="1100" b="1">
                <a:solidFill>
                  <a:srgbClr val="94A3B8"/>
                </a:solidFill>
                <a:latin typeface="Helvetica Neue"/>
              </a:rPr>
              <a:t>3</a:t>
            </a:r>
          </a:p>
        </p:txBody>
      </p:sp>
      <p:sp>
        <p:nvSpPr>
          <p:cNvPr id="88" name="TextBox 87"/>
          <p:cNvSpPr txBox="1"/>
          <p:nvPr/>
        </p:nvSpPr>
        <p:spPr>
          <a:xfrm>
            <a:off x="6306781" y="3406460"/>
            <a:ext cx="5153393" cy="627827"/>
          </a:xfrm>
          <a:prstGeom prst="rect">
            <a:avLst/>
          </a:prstGeom>
          <a:noFill/>
        </p:spPr>
        <p:txBody>
          <a:bodyPr wrap="square" lIns="0" rIns="0" tIns="0" bIns="0" anchor="t">
            <a:spAutoFit/>
          </a:bodyPr>
          <a:lstStyle/>
          <a:p>
            <a:pPr algn="l">
              <a:lnSpc>
                <a:spcPct val="122000"/>
              </a:lnSpc>
              <a:spcAft>
                <a:spcPts val="0"/>
              </a:spcAft>
            </a:pPr>
            <a:r>
              <a:rPr sz="1200" b="1">
                <a:solidFill>
                  <a:srgbClr val="0F172A"/>
                </a:solidFill>
                <a:latin typeface="Helvetica Neue"/>
              </a:rPr>
              <a:t>The bond type is a label, not a column. </a:t>
            </a:r>
            <a:r>
              <a:rPr sz="1200" b="0">
                <a:solidFill>
                  <a:srgbClr val="334155"/>
                </a:solidFill>
                <a:latin typeface="Helvetica Neue"/>
              </a:rPr>
              <a:t>2年債 is on one row, 2-Year JGB on the next, then twenty-one blank rows that still belong to it.</a:t>
            </a:r>
          </a:p>
        </p:txBody>
      </p:sp>
      <p:sp>
        <p:nvSpPr>
          <p:cNvPr id="89" name="TextBox 88"/>
          <p:cNvSpPr txBox="1"/>
          <p:nvPr/>
        </p:nvSpPr>
        <p:spPr>
          <a:xfrm>
            <a:off x="6050749" y="4198879"/>
            <a:ext cx="201168" cy="206870"/>
          </a:xfrm>
          <a:prstGeom prst="rect">
            <a:avLst/>
          </a:prstGeom>
          <a:noFill/>
        </p:spPr>
        <p:txBody>
          <a:bodyPr wrap="square" lIns="0" rIns="0" tIns="0" bIns="0" anchor="t">
            <a:spAutoFit/>
          </a:bodyPr>
          <a:lstStyle/>
          <a:p>
            <a:pPr algn="l">
              <a:lnSpc>
                <a:spcPct val="115000"/>
              </a:lnSpc>
              <a:spcAft>
                <a:spcPts val="0"/>
              </a:spcAft>
            </a:pPr>
            <a:r>
              <a:rPr sz="1100" b="1">
                <a:solidFill>
                  <a:srgbClr val="94A3B8"/>
                </a:solidFill>
                <a:latin typeface="Helvetica Neue"/>
              </a:rPr>
              <a:t>4</a:t>
            </a:r>
          </a:p>
        </p:txBody>
      </p:sp>
      <p:sp>
        <p:nvSpPr>
          <p:cNvPr id="90" name="TextBox 89"/>
          <p:cNvSpPr txBox="1"/>
          <p:nvPr/>
        </p:nvSpPr>
        <p:spPr>
          <a:xfrm>
            <a:off x="6306781" y="4198879"/>
            <a:ext cx="5153393" cy="430743"/>
          </a:xfrm>
          <a:prstGeom prst="rect">
            <a:avLst/>
          </a:prstGeom>
          <a:noFill/>
        </p:spPr>
        <p:txBody>
          <a:bodyPr wrap="square" lIns="0" rIns="0" tIns="0" bIns="0" anchor="t">
            <a:spAutoFit/>
          </a:bodyPr>
          <a:lstStyle/>
          <a:p>
            <a:pPr algn="l">
              <a:lnSpc>
                <a:spcPct val="122000"/>
              </a:lnSpc>
              <a:spcAft>
                <a:spcPts val="0"/>
              </a:spcAft>
            </a:pPr>
            <a:r>
              <a:rPr sz="1200" b="1">
                <a:solidFill>
                  <a:srgbClr val="0F172A"/>
                </a:solidFill>
                <a:latin typeface="Helvetica Neue"/>
              </a:rPr>
              <a:t>The unit sits in a floating cell. </a:t>
            </a:r>
            <a:r>
              <a:rPr sz="1200" b="0">
                <a:solidFill>
                  <a:srgbClr val="334155"/>
                </a:solidFill>
                <a:latin typeface="Helvetica Neue"/>
              </a:rPr>
              <a:t>Everything is in 億円, so every figure is multiplied by a hundred million.</a:t>
            </a:r>
          </a:p>
        </p:txBody>
      </p:sp>
      <p:sp>
        <p:nvSpPr>
          <p:cNvPr id="91" name="TextBox 90"/>
          <p:cNvSpPr txBox="1"/>
          <p:nvPr/>
        </p:nvSpPr>
        <p:spPr>
          <a:xfrm>
            <a:off x="6050749" y="4794214"/>
            <a:ext cx="201168" cy="206870"/>
          </a:xfrm>
          <a:prstGeom prst="rect">
            <a:avLst/>
          </a:prstGeom>
          <a:noFill/>
        </p:spPr>
        <p:txBody>
          <a:bodyPr wrap="square" lIns="0" rIns="0" tIns="0" bIns="0" anchor="t">
            <a:spAutoFit/>
          </a:bodyPr>
          <a:lstStyle/>
          <a:p>
            <a:pPr algn="l">
              <a:lnSpc>
                <a:spcPct val="115000"/>
              </a:lnSpc>
              <a:spcAft>
                <a:spcPts val="0"/>
              </a:spcAft>
            </a:pPr>
            <a:r>
              <a:rPr sz="1100" b="1">
                <a:solidFill>
                  <a:srgbClr val="94A3B8"/>
                </a:solidFill>
                <a:latin typeface="Helvetica Neue"/>
              </a:rPr>
              <a:t>5</a:t>
            </a:r>
          </a:p>
        </p:txBody>
      </p:sp>
      <p:sp>
        <p:nvSpPr>
          <p:cNvPr id="92" name="TextBox 91"/>
          <p:cNvSpPr txBox="1"/>
          <p:nvPr/>
        </p:nvSpPr>
        <p:spPr>
          <a:xfrm>
            <a:off x="6306781" y="4794214"/>
            <a:ext cx="5153393" cy="233659"/>
          </a:xfrm>
          <a:prstGeom prst="rect">
            <a:avLst/>
          </a:prstGeom>
          <a:noFill/>
        </p:spPr>
        <p:txBody>
          <a:bodyPr wrap="square" lIns="0" rIns="0" tIns="0" bIns="0" anchor="t">
            <a:spAutoFit/>
          </a:bodyPr>
          <a:lstStyle/>
          <a:p>
            <a:pPr algn="l">
              <a:lnSpc>
                <a:spcPct val="122000"/>
              </a:lnSpc>
              <a:spcAft>
                <a:spcPts val="0"/>
              </a:spcAft>
            </a:pPr>
            <a:r>
              <a:rPr sz="1200" b="1">
                <a:solidFill>
                  <a:srgbClr val="0F172A"/>
                </a:solidFill>
                <a:latin typeface="Helvetica Neue"/>
              </a:rPr>
              <a:t>Two languages in one merged cell, </a:t>
            </a:r>
            <a:r>
              <a:rPr sz="1200" b="0">
                <a:solidFill>
                  <a:srgbClr val="334155"/>
                </a:solidFill>
                <a:latin typeface="Helvetica Neue"/>
              </a:rPr>
              <a:t>split by a line break.</a:t>
            </a:r>
          </a:p>
        </p:txBody>
      </p:sp>
      <p:sp>
        <p:nvSpPr>
          <p:cNvPr id="93" name="Rectangle 92"/>
          <p:cNvSpPr/>
          <p:nvPr/>
        </p:nvSpPr>
        <p:spPr>
          <a:xfrm>
            <a:off x="731520" y="5258455"/>
            <a:ext cx="10728655" cy="804672"/>
          </a:xfrm>
          <a:prstGeom prst="rect">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87552" y="5386471"/>
            <a:ext cx="2011680" cy="157734"/>
          </a:xfrm>
          <a:prstGeom prst="rect">
            <a:avLst/>
          </a:prstGeom>
          <a:noFill/>
        </p:spPr>
        <p:txBody>
          <a:bodyPr wrap="square" lIns="0" rIns="0" tIns="0" bIns="0" anchor="t">
            <a:spAutoFit/>
          </a:bodyPr>
          <a:lstStyle/>
          <a:p>
            <a:pPr algn="l">
              <a:lnSpc>
                <a:spcPct val="100000"/>
              </a:lnSpc>
              <a:spcAft>
                <a:spcPts val="0"/>
              </a:spcAft>
            </a:pPr>
            <a:r>
              <a:rPr sz="900" b="1">
                <a:solidFill>
                  <a:srgbClr val="15803D"/>
                </a:solidFill>
                <a:latin typeface="Helvetica Neue"/>
              </a:rPr>
              <a:t>WHAT COMES OUT</a:t>
            </a:r>
          </a:p>
        </p:txBody>
      </p:sp>
      <p:sp>
        <p:nvSpPr>
          <p:cNvPr id="95" name="TextBox 94"/>
          <p:cNvSpPr txBox="1"/>
          <p:nvPr/>
        </p:nvSpPr>
        <p:spPr>
          <a:xfrm>
            <a:off x="987552" y="5605927"/>
            <a:ext cx="5578900" cy="362356"/>
          </a:xfrm>
          <a:prstGeom prst="rect">
            <a:avLst/>
          </a:prstGeom>
          <a:noFill/>
        </p:spPr>
        <p:txBody>
          <a:bodyPr wrap="square" lIns="0" rIns="0" tIns="0" bIns="0" anchor="t">
            <a:spAutoFit/>
          </a:bodyPr>
          <a:lstStyle/>
          <a:p>
            <a:pPr algn="l">
              <a:lnSpc>
                <a:spcPct val="110000"/>
              </a:lnSpc>
              <a:spcAft>
                <a:spcPts val="0"/>
              </a:spcAft>
            </a:pPr>
            <a:r>
              <a:rPr sz="1100" b="0">
                <a:solidFill>
                  <a:srgbClr val="0F172A"/>
                </a:solidFill>
                <a:latin typeface="Menlo"/>
              </a:rPr>
              <a:t>10-Year JGB · issue 378 · ¥2,930.0bn · 2026-08-31 · mei260831.xlsx</a:t>
            </a:r>
          </a:p>
        </p:txBody>
      </p:sp>
      <p:sp>
        <p:nvSpPr>
          <p:cNvPr id="96" name="TextBox 95"/>
          <p:cNvSpPr txBox="1"/>
          <p:nvPr/>
        </p:nvSpPr>
        <p:spPr>
          <a:xfrm>
            <a:off x="6954140" y="5477911"/>
            <a:ext cx="4291462" cy="391972"/>
          </a:xfrm>
          <a:prstGeom prst="rect">
            <a:avLst/>
          </a:prstGeom>
          <a:noFill/>
        </p:spPr>
        <p:txBody>
          <a:bodyPr wrap="square" lIns="0" rIns="0" tIns="0" bIns="0" anchor="t">
            <a:spAutoFit/>
          </a:bodyPr>
          <a:lstStyle/>
          <a:p>
            <a:pPr algn="r">
              <a:lnSpc>
                <a:spcPct val="120000"/>
              </a:lnSpc>
              <a:spcAft>
                <a:spcPts val="0"/>
              </a:spcAft>
            </a:pPr>
            <a:r>
              <a:rPr sz="1100" b="0">
                <a:solidFill>
                  <a:srgbClr val="64748B"/>
                </a:solidFill>
                <a:latin typeface="Helvetica Neue"/>
              </a:rPr>
              <a:t>One row per issue, the tenor carried down, the unit applied, and the file it came from recorded.</a:t>
            </a:r>
          </a:p>
        </p:txBody>
      </p:sp>
      <p:sp>
        <p:nvSpPr>
          <p:cNvPr id="97" name="TextBox 96"/>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HARD FORMATS</a:t>
            </a:r>
          </a:p>
        </p:txBody>
      </p:sp>
      <p:sp>
        <p:nvSpPr>
          <p:cNvPr id="98" name="TextBox 97"/>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Point-in-time history</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You can ask what a number was, not just what it is now. Agencies revise and overwrite. We never do, so every revision sits next to the version it replaced.</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936897"/>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856887"/>
            <a:ext cx="5144871" cy="1021994"/>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Quant teams cannot work without this. </a:t>
            </a:r>
            <a:r>
              <a:rPr sz="1500" b="0">
                <a:solidFill>
                  <a:srgbClr val="334155"/>
                </a:solidFill>
                <a:latin typeface="Helvetica Neue"/>
              </a:rPr>
              <a:t>Test a signal on today's numbers and you have tested it on information nobody had at the time. We can give you the data exactly as it stood on any date.</a:t>
            </a:r>
          </a:p>
        </p:txBody>
      </p:sp>
      <p:sp>
        <p:nvSpPr>
          <p:cNvPr id="7" name="Oval 6"/>
          <p:cNvSpPr/>
          <p:nvPr/>
        </p:nvSpPr>
        <p:spPr>
          <a:xfrm>
            <a:off x="731520" y="3233211"/>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3153201"/>
            <a:ext cx="5144871"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Nobody can build it later. </a:t>
            </a:r>
            <a:r>
              <a:rPr sz="1500" b="0">
                <a:solidFill>
                  <a:srgbClr val="334155"/>
                </a:solidFill>
                <a:latin typeface="Helvetica Neue"/>
              </a:rPr>
              <a:t>Once an agency overwrites a number, that version is gone unless someone was recording it. We were.</a:t>
            </a:r>
          </a:p>
        </p:txBody>
      </p:sp>
      <p:sp>
        <p:nvSpPr>
          <p:cNvPr id="9" name="Oval 8"/>
          <p:cNvSpPr/>
          <p:nvPr/>
        </p:nvSpPr>
        <p:spPr>
          <a:xfrm>
            <a:off x="731520" y="4283171"/>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4203161"/>
            <a:ext cx="5144871" cy="1021994"/>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It gets better on its own. </a:t>
            </a:r>
            <a:r>
              <a:rPr sz="1500" b="0">
                <a:solidFill>
                  <a:srgbClr val="334155"/>
                </a:solidFill>
                <a:latin typeface="Helvetica Neue"/>
              </a:rPr>
              <a:t>Every month the ingest runs, the record gets deeper. Someone starting in 2028 starts with nothing and stays two years behind.</a:t>
            </a:r>
          </a:p>
        </p:txBody>
      </p:sp>
      <p:sp>
        <p:nvSpPr>
          <p:cNvPr id="11" name="Rectangle 10"/>
          <p:cNvSpPr/>
          <p:nvPr/>
        </p:nvSpPr>
        <p:spPr>
          <a:xfrm>
            <a:off x="6632280" y="1856887"/>
            <a:ext cx="4827894" cy="3331692"/>
          </a:xfrm>
          <a:prstGeom prst="rect">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6600" y="2131207"/>
            <a:ext cx="4279254" cy="157734"/>
          </a:xfrm>
          <a:prstGeom prst="rect">
            <a:avLst/>
          </a:prstGeom>
          <a:noFill/>
        </p:spPr>
        <p:txBody>
          <a:bodyPr wrap="square" lIns="0" rIns="0" tIns="0" bIns="0" anchor="t">
            <a:spAutoFit/>
          </a:bodyPr>
          <a:lstStyle/>
          <a:p>
            <a:pPr algn="l">
              <a:lnSpc>
                <a:spcPct val="100000"/>
              </a:lnSpc>
              <a:spcAft>
                <a:spcPts val="0"/>
              </a:spcAft>
            </a:pPr>
            <a:r>
              <a:rPr sz="900" b="1">
                <a:solidFill>
                  <a:srgbClr val="1A4D8F"/>
                </a:solidFill>
                <a:latin typeface="Helvetica Neue"/>
              </a:rPr>
              <a:t>WHAT THAT LOOKS LIKE</a:t>
            </a:r>
          </a:p>
        </p:txBody>
      </p:sp>
      <p:sp>
        <p:nvSpPr>
          <p:cNvPr id="13" name="TextBox 12"/>
          <p:cNvSpPr txBox="1"/>
          <p:nvPr/>
        </p:nvSpPr>
        <p:spPr>
          <a:xfrm>
            <a:off x="6906600" y="2453533"/>
            <a:ext cx="4279254" cy="1450086"/>
          </a:xfrm>
          <a:prstGeom prst="rect">
            <a:avLst/>
          </a:prstGeom>
          <a:noFill/>
        </p:spPr>
        <p:txBody>
          <a:bodyPr wrap="square" lIns="0" rIns="0" tIns="0" bIns="0" anchor="t">
            <a:spAutoFit/>
          </a:bodyPr>
          <a:lstStyle/>
          <a:p>
            <a:pPr algn="l">
              <a:lnSpc>
                <a:spcPct val="140000"/>
              </a:lnSpc>
              <a:spcAft>
                <a:spcPts val="0"/>
              </a:spcAft>
            </a:pPr>
            <a:r>
              <a:rPr sz="1250" b="0">
                <a:solidFill>
                  <a:srgbClr val="64748B"/>
                </a:solidFill>
                <a:latin typeface="Helvetica Neue"/>
              </a:rPr>
              <a:t>A statistic as first published: </a:t>
            </a:r>
            <a:r>
              <a:rPr sz="1250" b="1">
                <a:solidFill>
                  <a:srgbClr val="0F172A"/>
                </a:solidFill>
                <a:latin typeface="Helvetica Neue"/>
              </a:rPr>
              <a:t>1.9%</a:t>
            </a:r>
          </a:p>
          <a:p>
            <a:pPr algn="l">
              <a:lnSpc>
                <a:spcPct val="140000"/>
              </a:lnSpc>
              <a:spcAft>
                <a:spcPts val="0"/>
              </a:spcAft>
            </a:pPr>
            <a:r>
              <a:rPr sz="1250" b="0">
                <a:solidFill>
                  <a:srgbClr val="64748B"/>
                </a:solidFill>
                <a:latin typeface="Helvetica Neue"/>
              </a:rPr>
              <a:t>The same month after a later revision: </a:t>
            </a:r>
            <a:r>
              <a:rPr sz="1250" b="1">
                <a:solidFill>
                  <a:srgbClr val="0F172A"/>
                </a:solidFill>
                <a:latin typeface="Helvetica Neue"/>
              </a:rPr>
              <a:t>2.0%</a:t>
            </a:r>
          </a:p>
          <a:p>
            <a:pPr algn="l">
              <a:lnSpc>
                <a:spcPct val="140000"/>
              </a:lnSpc>
              <a:spcAft>
                <a:spcPts val="0"/>
              </a:spcAft>
            </a:pPr>
            <a:r>
              <a:rPr sz="1250" b="0">
                <a:solidFill>
                  <a:srgbClr val="334155"/>
                </a:solidFill>
                <a:latin typeface="Helvetica Neue"/>
              </a:rPr>
              <a:t/>
            </a:r>
          </a:p>
          <a:p>
            <a:pPr algn="l">
              <a:lnSpc>
                <a:spcPct val="140000"/>
              </a:lnSpc>
              <a:spcAft>
                <a:spcPts val="0"/>
              </a:spcAft>
            </a:pPr>
            <a:r>
              <a:rPr sz="1250" b="0">
                <a:solidFill>
                  <a:srgbClr val="334155"/>
                </a:solidFill>
                <a:latin typeface="Helvetica Neue"/>
              </a:rPr>
              <a:t>Every other source now shows only the revised figure. We can show you either, and tell you which one a trader would have seen on the day.</a:t>
            </a:r>
          </a:p>
        </p:txBody>
      </p:sp>
      <p:sp>
        <p:nvSpPr>
          <p:cNvPr id="14" name="TextBox 13"/>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POINT-IN-TIME</a:t>
            </a:r>
          </a:p>
        </p:txBody>
      </p:sp>
      <p:sp>
        <p:nvSpPr>
          <p:cNvPr id="15" name="TextBox 14"/>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Agent access</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Any AI assistant can query the database directly, as tools over MCP. One line to connect it, then people just ask.</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936897"/>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856887"/>
            <a:ext cx="4286579"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Nothing to install. </a:t>
            </a:r>
            <a:r>
              <a:rPr sz="1500" b="0">
                <a:solidFill>
                  <a:srgbClr val="334155"/>
                </a:solidFill>
                <a:latin typeface="Helvetica Neue"/>
              </a:rPr>
              <a:t>One address pasted into Claude, an internal copilot or a code editor.</a:t>
            </a:r>
          </a:p>
        </p:txBody>
      </p:sp>
      <p:sp>
        <p:nvSpPr>
          <p:cNvPr id="7" name="Oval 6"/>
          <p:cNvSpPr/>
          <p:nvPr/>
        </p:nvSpPr>
        <p:spPr>
          <a:xfrm>
            <a:off x="731520" y="3023433"/>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943423"/>
            <a:ext cx="4286579"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They ask, it answers. </a:t>
            </a:r>
            <a:r>
              <a:rPr sz="1500" b="0">
                <a:solidFill>
                  <a:srgbClr val="334155"/>
                </a:solidFill>
                <a:latin typeface="Helvetica Neue"/>
              </a:rPr>
              <a:t>Our tools return the numbers and the source. The assistant does the chart, the table or the note.</a:t>
            </a:r>
          </a:p>
        </p:txBody>
      </p:sp>
      <p:sp>
        <p:nvSpPr>
          <p:cNvPr id="9" name="Oval 8"/>
          <p:cNvSpPr/>
          <p:nvPr/>
        </p:nvSpPr>
        <p:spPr>
          <a:xfrm>
            <a:off x="731520" y="4109968"/>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4029958"/>
            <a:ext cx="4286579"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Same code underneath. </a:t>
            </a:r>
            <a:r>
              <a:rPr sz="1500" b="0">
                <a:solidFill>
                  <a:srgbClr val="334155"/>
                </a:solidFill>
                <a:latin typeface="Helvetica Neue"/>
              </a:rPr>
              <a:t>The website, the API and the assistant call the same functions, so the numbers cannot drift apart.</a:t>
            </a:r>
          </a:p>
        </p:txBody>
      </p:sp>
      <p:sp>
        <p:nvSpPr>
          <p:cNvPr id="11" name="Rectangle 10"/>
          <p:cNvSpPr/>
          <p:nvPr/>
        </p:nvSpPr>
        <p:spPr>
          <a:xfrm>
            <a:off x="5773987" y="1856887"/>
            <a:ext cx="5686187" cy="3218688"/>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73987" y="1856887"/>
            <a:ext cx="5686187" cy="31089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56867" y="1939183"/>
            <a:ext cx="5320427" cy="177927"/>
          </a:xfrm>
          <a:prstGeom prst="rect">
            <a:avLst/>
          </a:prstGeom>
          <a:noFill/>
        </p:spPr>
        <p:txBody>
          <a:bodyPr wrap="square" lIns="0" rIns="0" tIns="0" bIns="0" anchor="t">
            <a:spAutoFit/>
          </a:bodyPr>
          <a:lstStyle/>
          <a:p>
            <a:pPr algn="l">
              <a:lnSpc>
                <a:spcPct val="100000"/>
              </a:lnSpc>
              <a:spcAft>
                <a:spcPts val="0"/>
              </a:spcAft>
            </a:pPr>
            <a:r>
              <a:rPr sz="1050" b="0">
                <a:solidFill>
                  <a:srgbClr val="94A3B8"/>
                </a:solidFill>
                <a:latin typeface="Menlo"/>
              </a:rPr>
              <a:t>$ </a:t>
            </a:r>
            <a:r>
              <a:rPr sz="1050" b="0">
                <a:solidFill>
                  <a:srgbClr val="FFFFFF"/>
                </a:solidFill>
                <a:latin typeface="Menlo"/>
              </a:rPr>
              <a:t>claude mcp add ceres https://[host]/mcp</a:t>
            </a:r>
          </a:p>
        </p:txBody>
      </p:sp>
      <p:sp>
        <p:nvSpPr>
          <p:cNvPr id="14" name="TextBox 13"/>
          <p:cNvSpPr txBox="1"/>
          <p:nvPr/>
        </p:nvSpPr>
        <p:spPr>
          <a:xfrm>
            <a:off x="6962707" y="2332375"/>
            <a:ext cx="4314587" cy="423608"/>
          </a:xfrm>
          <a:prstGeom prst="rect">
            <a:avLst/>
          </a:prstGeom>
          <a:noFill/>
        </p:spPr>
        <p:txBody>
          <a:bodyPr wrap="square" lIns="0" rIns="0" tIns="0" bIns="0" anchor="t">
            <a:spAutoFit/>
          </a:bodyPr>
          <a:lstStyle/>
          <a:p>
            <a:pPr algn="r">
              <a:lnSpc>
                <a:spcPct val="125000"/>
              </a:lnSpc>
              <a:spcAft>
                <a:spcPts val="0"/>
              </a:spcAft>
            </a:pPr>
            <a:r>
              <a:rPr sz="1150" b="0">
                <a:solidFill>
                  <a:srgbClr val="0F172A"/>
                </a:solidFill>
                <a:latin typeface="Helvetica Neue"/>
              </a:rPr>
              <a:t>Which of the big financials cut the most cross-shareholdings last year? Chart it.</a:t>
            </a:r>
          </a:p>
        </p:txBody>
      </p:sp>
      <p:sp>
        <p:nvSpPr>
          <p:cNvPr id="15" name="TextBox 14"/>
          <p:cNvSpPr txBox="1"/>
          <p:nvPr/>
        </p:nvSpPr>
        <p:spPr>
          <a:xfrm>
            <a:off x="5956867" y="2771287"/>
            <a:ext cx="164592" cy="177927"/>
          </a:xfrm>
          <a:prstGeom prst="rect">
            <a:avLst/>
          </a:prstGeom>
          <a:noFill/>
        </p:spPr>
        <p:txBody>
          <a:bodyPr wrap="square" lIns="0" rIns="0" tIns="0" bIns="0" anchor="t">
            <a:spAutoFit/>
          </a:bodyPr>
          <a:lstStyle/>
          <a:p>
            <a:pPr algn="l">
              <a:lnSpc>
                <a:spcPct val="100000"/>
              </a:lnSpc>
              <a:spcAft>
                <a:spcPts val="0"/>
              </a:spcAft>
            </a:pPr>
            <a:r>
              <a:rPr sz="1050" b="0">
                <a:solidFill>
                  <a:srgbClr val="15803D"/>
                </a:solidFill>
                <a:latin typeface="Helvetica Neue"/>
              </a:rPr>
              <a:t>✓</a:t>
            </a:r>
          </a:p>
        </p:txBody>
      </p:sp>
      <p:sp>
        <p:nvSpPr>
          <p:cNvPr id="16" name="TextBox 15"/>
          <p:cNvSpPr txBox="1"/>
          <p:nvPr/>
        </p:nvSpPr>
        <p:spPr>
          <a:xfrm>
            <a:off x="6158035" y="2771287"/>
            <a:ext cx="3308747" cy="177927"/>
          </a:xfrm>
          <a:prstGeom prst="rect">
            <a:avLst/>
          </a:prstGeom>
          <a:noFill/>
        </p:spPr>
        <p:txBody>
          <a:bodyPr wrap="square" lIns="0" rIns="0" tIns="0" bIns="0" anchor="t">
            <a:spAutoFit/>
          </a:bodyPr>
          <a:lstStyle/>
          <a:p>
            <a:pPr algn="l">
              <a:lnSpc>
                <a:spcPct val="100000"/>
              </a:lnSpc>
              <a:spcAft>
                <a:spcPts val="0"/>
              </a:spcAft>
            </a:pPr>
            <a:r>
              <a:rPr sz="1050" b="0">
                <a:solidFill>
                  <a:srgbClr val="1A4D8F"/>
                </a:solidFill>
                <a:latin typeface="Menlo"/>
              </a:rPr>
              <a:t>get_unwind_ranking</a:t>
            </a:r>
          </a:p>
        </p:txBody>
      </p:sp>
      <p:sp>
        <p:nvSpPr>
          <p:cNvPr id="17" name="TextBox 16"/>
          <p:cNvSpPr txBox="1"/>
          <p:nvPr/>
        </p:nvSpPr>
        <p:spPr>
          <a:xfrm>
            <a:off x="9722815" y="2771287"/>
            <a:ext cx="1554480" cy="171196"/>
          </a:xfrm>
          <a:prstGeom prst="rect">
            <a:avLst/>
          </a:prstGeom>
          <a:noFill/>
        </p:spPr>
        <p:txBody>
          <a:bodyPr wrap="square" lIns="0" rIns="0" tIns="0" bIns="0" anchor="t">
            <a:spAutoFit/>
          </a:bodyPr>
          <a:lstStyle/>
          <a:p>
            <a:pPr algn="r">
              <a:lnSpc>
                <a:spcPct val="100000"/>
              </a:lnSpc>
              <a:spcAft>
                <a:spcPts val="0"/>
              </a:spcAft>
            </a:pPr>
            <a:r>
              <a:rPr sz="1000" b="0">
                <a:solidFill>
                  <a:srgbClr val="64748B"/>
                </a:solidFill>
                <a:latin typeface="Helvetica Neue"/>
              </a:rPr>
              <a:t>4 filers · FY2026</a:t>
            </a:r>
          </a:p>
        </p:txBody>
      </p:sp>
      <p:sp>
        <p:nvSpPr>
          <p:cNvPr id="18" name="TextBox 17"/>
          <p:cNvSpPr txBox="1"/>
          <p:nvPr/>
        </p:nvSpPr>
        <p:spPr>
          <a:xfrm>
            <a:off x="5956867" y="3009031"/>
            <a:ext cx="164592" cy="177927"/>
          </a:xfrm>
          <a:prstGeom prst="rect">
            <a:avLst/>
          </a:prstGeom>
          <a:noFill/>
        </p:spPr>
        <p:txBody>
          <a:bodyPr wrap="square" lIns="0" rIns="0" tIns="0" bIns="0" anchor="t">
            <a:spAutoFit/>
          </a:bodyPr>
          <a:lstStyle/>
          <a:p>
            <a:pPr algn="l">
              <a:lnSpc>
                <a:spcPct val="100000"/>
              </a:lnSpc>
              <a:spcAft>
                <a:spcPts val="0"/>
              </a:spcAft>
            </a:pPr>
            <a:r>
              <a:rPr sz="1050" b="0">
                <a:solidFill>
                  <a:srgbClr val="15803D"/>
                </a:solidFill>
                <a:latin typeface="Helvetica Neue"/>
              </a:rPr>
              <a:t>✓</a:t>
            </a:r>
          </a:p>
        </p:txBody>
      </p:sp>
      <p:sp>
        <p:nvSpPr>
          <p:cNvPr id="19" name="TextBox 18"/>
          <p:cNvSpPr txBox="1"/>
          <p:nvPr/>
        </p:nvSpPr>
        <p:spPr>
          <a:xfrm>
            <a:off x="6158035" y="3009031"/>
            <a:ext cx="3308747" cy="177927"/>
          </a:xfrm>
          <a:prstGeom prst="rect">
            <a:avLst/>
          </a:prstGeom>
          <a:noFill/>
        </p:spPr>
        <p:txBody>
          <a:bodyPr wrap="square" lIns="0" rIns="0" tIns="0" bIns="0" anchor="t">
            <a:spAutoFit/>
          </a:bodyPr>
          <a:lstStyle/>
          <a:p>
            <a:pPr algn="l">
              <a:lnSpc>
                <a:spcPct val="100000"/>
              </a:lnSpc>
              <a:spcAft>
                <a:spcPts val="0"/>
              </a:spcAft>
            </a:pPr>
            <a:r>
              <a:rPr sz="1050" b="0">
                <a:solidFill>
                  <a:srgbClr val="1A4D8F"/>
                </a:solidFill>
                <a:latin typeface="Menlo"/>
              </a:rPr>
              <a:t>get_company_holdings</a:t>
            </a:r>
          </a:p>
        </p:txBody>
      </p:sp>
      <p:sp>
        <p:nvSpPr>
          <p:cNvPr id="20" name="TextBox 19"/>
          <p:cNvSpPr txBox="1"/>
          <p:nvPr/>
        </p:nvSpPr>
        <p:spPr>
          <a:xfrm>
            <a:off x="9722815" y="3009031"/>
            <a:ext cx="1554480" cy="305816"/>
          </a:xfrm>
          <a:prstGeom prst="rect">
            <a:avLst/>
          </a:prstGeom>
          <a:noFill/>
        </p:spPr>
        <p:txBody>
          <a:bodyPr wrap="square" lIns="0" rIns="0" tIns="0" bIns="0" anchor="t">
            <a:spAutoFit/>
          </a:bodyPr>
          <a:lstStyle/>
          <a:p>
            <a:pPr algn="r">
              <a:lnSpc>
                <a:spcPct val="100000"/>
              </a:lnSpc>
              <a:spcAft>
                <a:spcPts val="0"/>
              </a:spcAft>
            </a:pPr>
            <a:r>
              <a:rPr sz="1000" b="0">
                <a:solidFill>
                  <a:srgbClr val="64748B"/>
                </a:solidFill>
                <a:latin typeface="Helvetica Neue"/>
              </a:rPr>
              <a:t>as filed · with sources</a:t>
            </a:r>
          </a:p>
        </p:txBody>
      </p:sp>
      <p:sp>
        <p:nvSpPr>
          <p:cNvPr id="21" name="TextBox 20"/>
          <p:cNvSpPr txBox="1"/>
          <p:nvPr/>
        </p:nvSpPr>
        <p:spPr>
          <a:xfrm>
            <a:off x="5956867" y="3374791"/>
            <a:ext cx="5320427" cy="157734"/>
          </a:xfrm>
          <a:prstGeom prst="rect">
            <a:avLst/>
          </a:prstGeom>
          <a:noFill/>
        </p:spPr>
        <p:txBody>
          <a:bodyPr wrap="square" lIns="0" rIns="0" tIns="0" bIns="0" anchor="t">
            <a:spAutoFit/>
          </a:bodyPr>
          <a:lstStyle/>
          <a:p>
            <a:pPr algn="l">
              <a:lnSpc>
                <a:spcPct val="100000"/>
              </a:lnSpc>
              <a:spcAft>
                <a:spcPts val="0"/>
              </a:spcAft>
            </a:pPr>
            <a:r>
              <a:rPr sz="900" b="1">
                <a:solidFill>
                  <a:srgbClr val="64748B"/>
                </a:solidFill>
                <a:latin typeface="Helvetica Neue"/>
              </a:rPr>
              <a:t>POSITIONS REDUCED, LATEST FISCAL YEAR</a:t>
            </a:r>
          </a:p>
        </p:txBody>
      </p:sp>
      <p:sp>
        <p:nvSpPr>
          <p:cNvPr id="22" name="TextBox 21"/>
          <p:cNvSpPr txBox="1"/>
          <p:nvPr/>
        </p:nvSpPr>
        <p:spPr>
          <a:xfrm>
            <a:off x="5956867" y="3630823"/>
            <a:ext cx="1143000" cy="177927"/>
          </a:xfrm>
          <a:prstGeom prst="rect">
            <a:avLst/>
          </a:prstGeom>
          <a:noFill/>
        </p:spPr>
        <p:txBody>
          <a:bodyPr wrap="square" lIns="0" rIns="0" tIns="0" bIns="0" anchor="t">
            <a:spAutoFit/>
          </a:bodyPr>
          <a:lstStyle/>
          <a:p>
            <a:pPr algn="l">
              <a:lnSpc>
                <a:spcPct val="100000"/>
              </a:lnSpc>
              <a:spcAft>
                <a:spcPts val="0"/>
              </a:spcAft>
            </a:pPr>
            <a:r>
              <a:rPr sz="1050" b="0">
                <a:solidFill>
                  <a:srgbClr val="0F172A"/>
                </a:solidFill>
                <a:latin typeface="Helvetica Neue"/>
              </a:rPr>
              <a:t>MS&amp;AD</a:t>
            </a:r>
          </a:p>
        </p:txBody>
      </p:sp>
      <p:sp>
        <p:nvSpPr>
          <p:cNvPr id="23" name="Rectangle 22"/>
          <p:cNvSpPr/>
          <p:nvPr/>
        </p:nvSpPr>
        <p:spPr>
          <a:xfrm>
            <a:off x="7099867" y="3644539"/>
            <a:ext cx="3400187" cy="155448"/>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73207" y="3630823"/>
            <a:ext cx="548640" cy="177927"/>
          </a:xfrm>
          <a:prstGeom prst="rect">
            <a:avLst/>
          </a:prstGeom>
          <a:noFill/>
        </p:spPr>
        <p:txBody>
          <a:bodyPr wrap="square" lIns="0" rIns="0" tIns="0" bIns="0" anchor="t">
            <a:spAutoFit/>
          </a:bodyPr>
          <a:lstStyle/>
          <a:p>
            <a:pPr algn="l">
              <a:lnSpc>
                <a:spcPct val="100000"/>
              </a:lnSpc>
              <a:spcAft>
                <a:spcPts val="0"/>
              </a:spcAft>
            </a:pPr>
            <a:r>
              <a:rPr sz="1050" b="1">
                <a:solidFill>
                  <a:srgbClr val="0F172A"/>
                </a:solidFill>
                <a:latin typeface="Helvetica Neue"/>
              </a:rPr>
              <a:t>52</a:t>
            </a:r>
          </a:p>
        </p:txBody>
      </p:sp>
      <p:sp>
        <p:nvSpPr>
          <p:cNvPr id="25" name="TextBox 24"/>
          <p:cNvSpPr txBox="1"/>
          <p:nvPr/>
        </p:nvSpPr>
        <p:spPr>
          <a:xfrm>
            <a:off x="5956867" y="3905143"/>
            <a:ext cx="1143000" cy="177927"/>
          </a:xfrm>
          <a:prstGeom prst="rect">
            <a:avLst/>
          </a:prstGeom>
          <a:noFill/>
        </p:spPr>
        <p:txBody>
          <a:bodyPr wrap="square" lIns="0" rIns="0" tIns="0" bIns="0" anchor="t">
            <a:spAutoFit/>
          </a:bodyPr>
          <a:lstStyle/>
          <a:p>
            <a:pPr algn="l">
              <a:lnSpc>
                <a:spcPct val="100000"/>
              </a:lnSpc>
              <a:spcAft>
                <a:spcPts val="0"/>
              </a:spcAft>
            </a:pPr>
            <a:r>
              <a:rPr sz="1050" b="0">
                <a:solidFill>
                  <a:srgbClr val="0F172A"/>
                </a:solidFill>
                <a:latin typeface="Helvetica Neue"/>
              </a:rPr>
              <a:t>Mizuho FG</a:t>
            </a:r>
          </a:p>
        </p:txBody>
      </p:sp>
      <p:sp>
        <p:nvSpPr>
          <p:cNvPr id="26" name="Rectangle 25"/>
          <p:cNvSpPr/>
          <p:nvPr/>
        </p:nvSpPr>
        <p:spPr>
          <a:xfrm>
            <a:off x="7099867" y="3918859"/>
            <a:ext cx="980823" cy="155448"/>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53843" y="3905143"/>
            <a:ext cx="548640" cy="177927"/>
          </a:xfrm>
          <a:prstGeom prst="rect">
            <a:avLst/>
          </a:prstGeom>
          <a:noFill/>
        </p:spPr>
        <p:txBody>
          <a:bodyPr wrap="square" lIns="0" rIns="0" tIns="0" bIns="0" anchor="t">
            <a:spAutoFit/>
          </a:bodyPr>
          <a:lstStyle/>
          <a:p>
            <a:pPr algn="l">
              <a:lnSpc>
                <a:spcPct val="100000"/>
              </a:lnSpc>
              <a:spcAft>
                <a:spcPts val="0"/>
              </a:spcAft>
            </a:pPr>
            <a:r>
              <a:rPr sz="1050" b="1">
                <a:solidFill>
                  <a:srgbClr val="0F172A"/>
                </a:solidFill>
                <a:latin typeface="Helvetica Neue"/>
              </a:rPr>
              <a:t>15</a:t>
            </a:r>
          </a:p>
        </p:txBody>
      </p:sp>
      <p:sp>
        <p:nvSpPr>
          <p:cNvPr id="28" name="TextBox 27"/>
          <p:cNvSpPr txBox="1"/>
          <p:nvPr/>
        </p:nvSpPr>
        <p:spPr>
          <a:xfrm>
            <a:off x="5956867" y="4179463"/>
            <a:ext cx="1143000" cy="177927"/>
          </a:xfrm>
          <a:prstGeom prst="rect">
            <a:avLst/>
          </a:prstGeom>
          <a:noFill/>
        </p:spPr>
        <p:txBody>
          <a:bodyPr wrap="square" lIns="0" rIns="0" tIns="0" bIns="0" anchor="t">
            <a:spAutoFit/>
          </a:bodyPr>
          <a:lstStyle/>
          <a:p>
            <a:pPr algn="l">
              <a:lnSpc>
                <a:spcPct val="100000"/>
              </a:lnSpc>
              <a:spcAft>
                <a:spcPts val="0"/>
              </a:spcAft>
            </a:pPr>
            <a:r>
              <a:rPr sz="1050" b="0">
                <a:solidFill>
                  <a:srgbClr val="0F172A"/>
                </a:solidFill>
                <a:latin typeface="Helvetica Neue"/>
              </a:rPr>
              <a:t>SMFG</a:t>
            </a:r>
          </a:p>
        </p:txBody>
      </p:sp>
      <p:sp>
        <p:nvSpPr>
          <p:cNvPr id="29" name="Rectangle 28"/>
          <p:cNvSpPr/>
          <p:nvPr/>
        </p:nvSpPr>
        <p:spPr>
          <a:xfrm>
            <a:off x="7099867" y="4193179"/>
            <a:ext cx="850046" cy="155448"/>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3066" y="4179463"/>
            <a:ext cx="548640" cy="177927"/>
          </a:xfrm>
          <a:prstGeom prst="rect">
            <a:avLst/>
          </a:prstGeom>
          <a:noFill/>
        </p:spPr>
        <p:txBody>
          <a:bodyPr wrap="square" lIns="0" rIns="0" tIns="0" bIns="0" anchor="t">
            <a:spAutoFit/>
          </a:bodyPr>
          <a:lstStyle/>
          <a:p>
            <a:pPr algn="l">
              <a:lnSpc>
                <a:spcPct val="100000"/>
              </a:lnSpc>
              <a:spcAft>
                <a:spcPts val="0"/>
              </a:spcAft>
            </a:pPr>
            <a:r>
              <a:rPr sz="1050" b="1">
                <a:solidFill>
                  <a:srgbClr val="0F172A"/>
                </a:solidFill>
                <a:latin typeface="Helvetica Neue"/>
              </a:rPr>
              <a:t>13</a:t>
            </a:r>
          </a:p>
        </p:txBody>
      </p:sp>
      <p:sp>
        <p:nvSpPr>
          <p:cNvPr id="31" name="TextBox 30"/>
          <p:cNvSpPr txBox="1"/>
          <p:nvPr/>
        </p:nvSpPr>
        <p:spPr>
          <a:xfrm>
            <a:off x="5956867" y="4453783"/>
            <a:ext cx="1143000" cy="177927"/>
          </a:xfrm>
          <a:prstGeom prst="rect">
            <a:avLst/>
          </a:prstGeom>
          <a:noFill/>
        </p:spPr>
        <p:txBody>
          <a:bodyPr wrap="square" lIns="0" rIns="0" tIns="0" bIns="0" anchor="t">
            <a:spAutoFit/>
          </a:bodyPr>
          <a:lstStyle/>
          <a:p>
            <a:pPr algn="l">
              <a:lnSpc>
                <a:spcPct val="100000"/>
              </a:lnSpc>
              <a:spcAft>
                <a:spcPts val="0"/>
              </a:spcAft>
            </a:pPr>
            <a:r>
              <a:rPr sz="1050" b="0">
                <a:solidFill>
                  <a:srgbClr val="0F172A"/>
                </a:solidFill>
                <a:latin typeface="Helvetica Neue"/>
              </a:rPr>
              <a:t>MUFG</a:t>
            </a:r>
          </a:p>
        </p:txBody>
      </p:sp>
      <p:sp>
        <p:nvSpPr>
          <p:cNvPr id="32" name="Rectangle 31"/>
          <p:cNvSpPr/>
          <p:nvPr/>
        </p:nvSpPr>
        <p:spPr>
          <a:xfrm>
            <a:off x="7099867" y="4467499"/>
            <a:ext cx="588493" cy="155448"/>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61513" y="4453783"/>
            <a:ext cx="548640" cy="177927"/>
          </a:xfrm>
          <a:prstGeom prst="rect">
            <a:avLst/>
          </a:prstGeom>
          <a:noFill/>
        </p:spPr>
        <p:txBody>
          <a:bodyPr wrap="square" lIns="0" rIns="0" tIns="0" bIns="0" anchor="t">
            <a:spAutoFit/>
          </a:bodyPr>
          <a:lstStyle/>
          <a:p>
            <a:pPr algn="l">
              <a:lnSpc>
                <a:spcPct val="100000"/>
              </a:lnSpc>
              <a:spcAft>
                <a:spcPts val="0"/>
              </a:spcAft>
            </a:pPr>
            <a:r>
              <a:rPr sz="1050" b="1">
                <a:solidFill>
                  <a:srgbClr val="0F172A"/>
                </a:solidFill>
                <a:latin typeface="Helvetica Neue"/>
              </a:rPr>
              <a:t>9</a:t>
            </a:r>
          </a:p>
        </p:txBody>
      </p:sp>
      <p:sp>
        <p:nvSpPr>
          <p:cNvPr id="34" name="Rectangle 33"/>
          <p:cNvSpPr/>
          <p:nvPr/>
        </p:nvSpPr>
        <p:spPr>
          <a:xfrm>
            <a:off x="5956867" y="4746391"/>
            <a:ext cx="5320427"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56867" y="4856119"/>
            <a:ext cx="5320427" cy="183648"/>
          </a:xfrm>
          <a:prstGeom prst="rect">
            <a:avLst/>
          </a:prstGeom>
          <a:noFill/>
        </p:spPr>
        <p:txBody>
          <a:bodyPr wrap="square" lIns="0" rIns="0" tIns="0" bIns="0" anchor="t">
            <a:spAutoFit/>
          </a:bodyPr>
          <a:lstStyle/>
          <a:p>
            <a:pPr algn="l">
              <a:lnSpc>
                <a:spcPct val="115000"/>
              </a:lnSpc>
              <a:spcAft>
                <a:spcPts val="0"/>
              </a:spcAft>
            </a:pPr>
            <a:r>
              <a:rPr sz="950" b="0">
                <a:solidFill>
                  <a:srgbClr val="64748B"/>
                </a:solidFill>
                <a:latin typeface="Helvetica Neue"/>
              </a:rPr>
              <a:t>Source: annual securities reports, FY2026. Every bar links to the filing.</a:t>
            </a:r>
          </a:p>
        </p:txBody>
      </p:sp>
      <p:sp>
        <p:nvSpPr>
          <p:cNvPr id="36" name="TextBox 35"/>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AI ACCESS</a:t>
            </a:r>
          </a:p>
        </p:txBody>
      </p:sp>
      <p:sp>
        <p:nvSpPr>
          <p:cNvPr id="37" name="TextBox 36"/>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Our way in</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This is how we get into a firm. We are not trying to win the interface, we sit behind whichever assistant the customer already uses.</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56887"/>
            <a:ext cx="3393338" cy="201168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56887"/>
            <a:ext cx="3393338" cy="38404"/>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2094631"/>
            <a:ext cx="2917850" cy="171196"/>
          </a:xfrm>
          <a:prstGeom prst="rect">
            <a:avLst/>
          </a:prstGeom>
          <a:noFill/>
        </p:spPr>
        <p:txBody>
          <a:bodyPr wrap="square" lIns="0" rIns="0" tIns="0" bIns="0" anchor="t">
            <a:spAutoFit/>
          </a:bodyPr>
          <a:lstStyle/>
          <a:p>
            <a:pPr algn="l">
              <a:lnSpc>
                <a:spcPct val="100000"/>
              </a:lnSpc>
              <a:spcAft>
                <a:spcPts val="0"/>
              </a:spcAft>
            </a:pPr>
            <a:r>
              <a:rPr sz="1000" b="1">
                <a:solidFill>
                  <a:srgbClr val="94A3B8"/>
                </a:solidFill>
                <a:latin typeface="Helvetica Neue"/>
              </a:rPr>
              <a:t>FIRST</a:t>
            </a:r>
          </a:p>
        </p:txBody>
      </p:sp>
      <p:sp>
        <p:nvSpPr>
          <p:cNvPr id="8" name="TextBox 7"/>
          <p:cNvSpPr txBox="1"/>
          <p:nvPr/>
        </p:nvSpPr>
        <p:spPr>
          <a:xfrm>
            <a:off x="969264" y="2332375"/>
            <a:ext cx="2917850" cy="488899"/>
          </a:xfrm>
          <a:prstGeom prst="rect">
            <a:avLst/>
          </a:prstGeom>
          <a:noFill/>
        </p:spPr>
        <p:txBody>
          <a:bodyPr wrap="square" lIns="0" rIns="0" tIns="0" bIns="0" anchor="t">
            <a:spAutoFit/>
          </a:bodyPr>
          <a:lstStyle/>
          <a:p>
            <a:pPr algn="l">
              <a:lnSpc>
                <a:spcPct val="105000"/>
              </a:lnSpc>
              <a:spcAft>
                <a:spcPts val="0"/>
              </a:spcAft>
            </a:pPr>
            <a:r>
              <a:rPr sz="1600" b="1">
                <a:solidFill>
                  <a:srgbClr val="0F172A"/>
                </a:solidFill>
                <a:latin typeface="Helvetica Neue"/>
              </a:rPr>
              <a:t>Someone pastes one address</a:t>
            </a:r>
          </a:p>
        </p:txBody>
      </p:sp>
      <p:sp>
        <p:nvSpPr>
          <p:cNvPr id="9" name="TextBox 8"/>
          <p:cNvSpPr txBox="1"/>
          <p:nvPr/>
        </p:nvSpPr>
        <p:spPr>
          <a:xfrm>
            <a:off x="969264" y="2935879"/>
            <a:ext cx="2917850" cy="627827"/>
          </a:xfrm>
          <a:prstGeom prst="rect">
            <a:avLst/>
          </a:prstGeom>
          <a:noFill/>
        </p:spPr>
        <p:txBody>
          <a:bodyPr wrap="square" lIns="0" rIns="0" tIns="0" bIns="0" anchor="t">
            <a:spAutoFit/>
          </a:bodyPr>
          <a:lstStyle/>
          <a:p>
            <a:pPr algn="l">
              <a:lnSpc>
                <a:spcPct val="122000"/>
              </a:lnSpc>
              <a:spcAft>
                <a:spcPts val="0"/>
              </a:spcAft>
            </a:pPr>
            <a:r>
              <a:rPr sz="1200" b="0">
                <a:solidFill>
                  <a:srgbClr val="334155"/>
                </a:solidFill>
                <a:latin typeface="Helvetica Neue"/>
              </a:rPr>
              <a:t>Into Claude, their code editor, or the copilot their employer has rolled out.</a:t>
            </a:r>
          </a:p>
        </p:txBody>
      </p:sp>
      <p:sp>
        <p:nvSpPr>
          <p:cNvPr id="10" name="TextBox 9"/>
          <p:cNvSpPr txBox="1"/>
          <p:nvPr/>
        </p:nvSpPr>
        <p:spPr>
          <a:xfrm>
            <a:off x="4188866" y="2679847"/>
            <a:ext cx="182880" cy="305816"/>
          </a:xfrm>
          <a:prstGeom prst="rect">
            <a:avLst/>
          </a:prstGeom>
          <a:noFill/>
        </p:spPr>
        <p:txBody>
          <a:bodyPr wrap="square" lIns="0" rIns="0" tIns="0" bIns="0" anchor="t">
            <a:spAutoFit/>
          </a:bodyPr>
          <a:lstStyle/>
          <a:p>
            <a:pPr algn="l">
              <a:lnSpc>
                <a:spcPct val="100000"/>
              </a:lnSpc>
              <a:spcAft>
                <a:spcPts val="0"/>
              </a:spcAft>
            </a:pPr>
            <a:r>
              <a:rPr sz="2000" b="0">
                <a:solidFill>
                  <a:srgbClr val="94A3B8"/>
                </a:solidFill>
                <a:latin typeface="Helvetica Neue"/>
              </a:rPr>
              <a:t>›</a:t>
            </a:r>
          </a:p>
        </p:txBody>
      </p:sp>
      <p:sp>
        <p:nvSpPr>
          <p:cNvPr id="11" name="Rectangle 10"/>
          <p:cNvSpPr/>
          <p:nvPr/>
        </p:nvSpPr>
        <p:spPr>
          <a:xfrm>
            <a:off x="4399178" y="1856887"/>
            <a:ext cx="3393338" cy="201168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9178" y="1856887"/>
            <a:ext cx="3393338" cy="38404"/>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922" y="2094631"/>
            <a:ext cx="2917850" cy="171196"/>
          </a:xfrm>
          <a:prstGeom prst="rect">
            <a:avLst/>
          </a:prstGeom>
          <a:noFill/>
        </p:spPr>
        <p:txBody>
          <a:bodyPr wrap="square" lIns="0" rIns="0" tIns="0" bIns="0" anchor="t">
            <a:spAutoFit/>
          </a:bodyPr>
          <a:lstStyle/>
          <a:p>
            <a:pPr algn="l">
              <a:lnSpc>
                <a:spcPct val="100000"/>
              </a:lnSpc>
              <a:spcAft>
                <a:spcPts val="0"/>
              </a:spcAft>
            </a:pPr>
            <a:r>
              <a:rPr sz="1000" b="1">
                <a:solidFill>
                  <a:srgbClr val="94A3B8"/>
                </a:solidFill>
                <a:latin typeface="Helvetica Neue"/>
              </a:rPr>
              <a:t>THEN</a:t>
            </a:r>
          </a:p>
        </p:txBody>
      </p:sp>
      <p:sp>
        <p:nvSpPr>
          <p:cNvPr id="14" name="TextBox 13"/>
          <p:cNvSpPr txBox="1"/>
          <p:nvPr/>
        </p:nvSpPr>
        <p:spPr>
          <a:xfrm>
            <a:off x="4636922" y="2332375"/>
            <a:ext cx="2917850" cy="262737"/>
          </a:xfrm>
          <a:prstGeom prst="rect">
            <a:avLst/>
          </a:prstGeom>
          <a:noFill/>
        </p:spPr>
        <p:txBody>
          <a:bodyPr wrap="square" lIns="0" rIns="0" tIns="0" bIns="0" anchor="t">
            <a:spAutoFit/>
          </a:bodyPr>
          <a:lstStyle/>
          <a:p>
            <a:pPr algn="l">
              <a:lnSpc>
                <a:spcPct val="105000"/>
              </a:lnSpc>
              <a:spcAft>
                <a:spcPts val="0"/>
              </a:spcAft>
            </a:pPr>
            <a:r>
              <a:rPr sz="1600" b="1">
                <a:solidFill>
                  <a:srgbClr val="0F172A"/>
                </a:solidFill>
                <a:latin typeface="Helvetica Neue"/>
              </a:rPr>
              <a:t>Our tools show up</a:t>
            </a:r>
          </a:p>
        </p:txBody>
      </p:sp>
      <p:sp>
        <p:nvSpPr>
          <p:cNvPr id="15" name="TextBox 14"/>
          <p:cNvSpPr txBox="1"/>
          <p:nvPr/>
        </p:nvSpPr>
        <p:spPr>
          <a:xfrm>
            <a:off x="4636922" y="2935879"/>
            <a:ext cx="2917850" cy="627827"/>
          </a:xfrm>
          <a:prstGeom prst="rect">
            <a:avLst/>
          </a:prstGeom>
          <a:noFill/>
        </p:spPr>
        <p:txBody>
          <a:bodyPr wrap="square" lIns="0" rIns="0" tIns="0" bIns="0" anchor="t">
            <a:spAutoFit/>
          </a:bodyPr>
          <a:lstStyle/>
          <a:p>
            <a:pPr algn="l">
              <a:lnSpc>
                <a:spcPct val="122000"/>
              </a:lnSpc>
              <a:spcAft>
                <a:spcPts val="0"/>
              </a:spcAft>
            </a:pPr>
            <a:r>
              <a:rPr sz="1200" b="0">
                <a:solidFill>
                  <a:srgbClr val="334155"/>
                </a:solidFill>
                <a:latin typeface="Helvetica Neue"/>
              </a:rPr>
              <a:t>Their assistant can now answer questions about filings, statistics and their own saved screens.</a:t>
            </a:r>
          </a:p>
        </p:txBody>
      </p:sp>
      <p:sp>
        <p:nvSpPr>
          <p:cNvPr id="16" name="TextBox 15"/>
          <p:cNvSpPr txBox="1"/>
          <p:nvPr/>
        </p:nvSpPr>
        <p:spPr>
          <a:xfrm>
            <a:off x="7856524" y="2679847"/>
            <a:ext cx="182880" cy="305816"/>
          </a:xfrm>
          <a:prstGeom prst="rect">
            <a:avLst/>
          </a:prstGeom>
          <a:noFill/>
        </p:spPr>
        <p:txBody>
          <a:bodyPr wrap="square" lIns="0" rIns="0" tIns="0" bIns="0" anchor="t">
            <a:spAutoFit/>
          </a:bodyPr>
          <a:lstStyle/>
          <a:p>
            <a:pPr algn="l">
              <a:lnSpc>
                <a:spcPct val="100000"/>
              </a:lnSpc>
              <a:spcAft>
                <a:spcPts val="0"/>
              </a:spcAft>
            </a:pPr>
            <a:r>
              <a:rPr sz="2000" b="0">
                <a:solidFill>
                  <a:srgbClr val="94A3B8"/>
                </a:solidFill>
                <a:latin typeface="Helvetica Neue"/>
              </a:rPr>
              <a:t>›</a:t>
            </a:r>
          </a:p>
        </p:txBody>
      </p:sp>
      <p:sp>
        <p:nvSpPr>
          <p:cNvPr id="17" name="Rectangle 16"/>
          <p:cNvSpPr/>
          <p:nvPr/>
        </p:nvSpPr>
        <p:spPr>
          <a:xfrm>
            <a:off x="8066836" y="1856887"/>
            <a:ext cx="3393338" cy="201168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6836" y="1856887"/>
            <a:ext cx="3393338" cy="38404"/>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4580" y="2094631"/>
            <a:ext cx="2917850" cy="171196"/>
          </a:xfrm>
          <a:prstGeom prst="rect">
            <a:avLst/>
          </a:prstGeom>
          <a:noFill/>
        </p:spPr>
        <p:txBody>
          <a:bodyPr wrap="square" lIns="0" rIns="0" tIns="0" bIns="0" anchor="t">
            <a:spAutoFit/>
          </a:bodyPr>
          <a:lstStyle/>
          <a:p>
            <a:pPr algn="l">
              <a:lnSpc>
                <a:spcPct val="100000"/>
              </a:lnSpc>
              <a:spcAft>
                <a:spcPts val="0"/>
              </a:spcAft>
            </a:pPr>
            <a:r>
              <a:rPr sz="1000" b="1">
                <a:solidFill>
                  <a:srgbClr val="94A3B8"/>
                </a:solidFill>
                <a:latin typeface="Helvetica Neue"/>
              </a:rPr>
              <a:t>AND</a:t>
            </a:r>
          </a:p>
        </p:txBody>
      </p:sp>
      <p:sp>
        <p:nvSpPr>
          <p:cNvPr id="20" name="TextBox 19"/>
          <p:cNvSpPr txBox="1"/>
          <p:nvPr/>
        </p:nvSpPr>
        <p:spPr>
          <a:xfrm>
            <a:off x="8304580" y="2332375"/>
            <a:ext cx="2917850" cy="488899"/>
          </a:xfrm>
          <a:prstGeom prst="rect">
            <a:avLst/>
          </a:prstGeom>
          <a:noFill/>
        </p:spPr>
        <p:txBody>
          <a:bodyPr wrap="square" lIns="0" rIns="0" tIns="0" bIns="0" anchor="t">
            <a:spAutoFit/>
          </a:bodyPr>
          <a:lstStyle/>
          <a:p>
            <a:pPr algn="l">
              <a:lnSpc>
                <a:spcPct val="105000"/>
              </a:lnSpc>
              <a:spcAft>
                <a:spcPts val="0"/>
              </a:spcAft>
            </a:pPr>
            <a:r>
              <a:rPr sz="1600" b="1">
                <a:solidFill>
                  <a:srgbClr val="0F172A"/>
                </a:solidFill>
                <a:latin typeface="Helvetica Neue"/>
              </a:rPr>
              <a:t>Every answer cites a filing</a:t>
            </a:r>
          </a:p>
        </p:txBody>
      </p:sp>
      <p:sp>
        <p:nvSpPr>
          <p:cNvPr id="21" name="TextBox 20"/>
          <p:cNvSpPr txBox="1"/>
          <p:nvPr/>
        </p:nvSpPr>
        <p:spPr>
          <a:xfrm>
            <a:off x="8304580" y="2935879"/>
            <a:ext cx="2917850" cy="627827"/>
          </a:xfrm>
          <a:prstGeom prst="rect">
            <a:avLst/>
          </a:prstGeom>
          <a:noFill/>
        </p:spPr>
        <p:txBody>
          <a:bodyPr wrap="square" lIns="0" rIns="0" tIns="0" bIns="0" anchor="t">
            <a:spAutoFit/>
          </a:bodyPr>
          <a:lstStyle/>
          <a:p>
            <a:pPr algn="l">
              <a:lnSpc>
                <a:spcPct val="122000"/>
              </a:lnSpc>
              <a:spcAft>
                <a:spcPts val="0"/>
              </a:spcAft>
            </a:pPr>
            <a:r>
              <a:rPr sz="1200" b="0">
                <a:solidFill>
                  <a:srgbClr val="334155"/>
                </a:solidFill>
                <a:latin typeface="Helvetica Neue"/>
              </a:rPr>
              <a:t>So the analyst can check it, and so can the person who has to sign off on it.</a:t>
            </a:r>
          </a:p>
        </p:txBody>
      </p:sp>
      <p:sp>
        <p:nvSpPr>
          <p:cNvPr id="22" name="Oval 21"/>
          <p:cNvSpPr/>
          <p:nvPr/>
        </p:nvSpPr>
        <p:spPr>
          <a:xfrm>
            <a:off x="731520" y="4186321"/>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4106311"/>
            <a:ext cx="10509199" cy="529285"/>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Trying it costs nothing. </a:t>
            </a:r>
            <a:r>
              <a:rPr sz="1500" b="0">
                <a:solidFill>
                  <a:srgbClr val="334155"/>
                </a:solidFill>
                <a:latin typeface="Helvetica Neue"/>
              </a:rPr>
              <a:t>There is no software to approve, so an analyst can test it on a Tuesday afternoon without asking anyone. That is how a company our size gets into a bank.</a:t>
            </a:r>
          </a:p>
        </p:txBody>
      </p:sp>
      <p:sp>
        <p:nvSpPr>
          <p:cNvPr id="24" name="Oval 23"/>
          <p:cNvSpPr/>
          <p:nvPr/>
        </p:nvSpPr>
        <p:spPr>
          <a:xfrm>
            <a:off x="731520" y="4916774"/>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 y="4836764"/>
            <a:ext cx="10509199" cy="529285"/>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Once it is in, taking it out hurts. </a:t>
            </a:r>
            <a:r>
              <a:rPr sz="1500" b="0">
                <a:solidFill>
                  <a:srgbClr val="334155"/>
                </a:solidFill>
                <a:latin typeface="Helvetica Neue"/>
              </a:rPr>
              <a:t>When an assistant already answers these questions, removing us is a step backwards that the analyst notices the same day.</a:t>
            </a:r>
          </a:p>
        </p:txBody>
      </p:sp>
      <p:sp>
        <p:nvSpPr>
          <p:cNvPr id="26" name="TextBox 25"/>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AI ACCESS</a:t>
            </a:r>
          </a:p>
        </p:txBody>
      </p:sp>
      <p:sp>
        <p:nvSpPr>
          <p:cNvPr id="27" name="TextBox 26"/>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The desk</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What your specialists found overnight. You tell us which companies you cover, and they report back with the filing attached to every claim.</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Desk.png"/>
          <p:cNvPicPr>
            <a:picLocks noChangeAspect="1"/>
          </p:cNvPicPr>
          <p:nvPr/>
        </p:nvPicPr>
        <p:blipFill>
          <a:blip r:embed="rId2"/>
          <a:stretch>
            <a:fillRect/>
          </a:stretch>
        </p:blipFill>
        <p:spPr>
          <a:xfrm>
            <a:off x="731520" y="1856887"/>
            <a:ext cx="6008046" cy="3755029"/>
          </a:xfrm>
          <a:prstGeom prst="rect">
            <a:avLst/>
          </a:prstGeom>
        </p:spPr>
      </p:pic>
      <p:sp>
        <p:nvSpPr>
          <p:cNvPr id="6" name="Rectangle 5"/>
          <p:cNvSpPr/>
          <p:nvPr/>
        </p:nvSpPr>
        <p:spPr>
          <a:xfrm>
            <a:off x="731520" y="1856887"/>
            <a:ext cx="6008046" cy="3755029"/>
          </a:xfrm>
          <a:prstGeom prst="rect">
            <a:avLst/>
          </a:prstGeom>
          <a:no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105326" y="1982617"/>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24782" y="1902607"/>
            <a:ext cx="4135392"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It tells you what happened, in a sentence. </a:t>
            </a:r>
            <a:r>
              <a:rPr sz="1500" b="0">
                <a:solidFill>
                  <a:srgbClr val="334155"/>
                </a:solidFill>
                <a:latin typeface="Helvetica Neue"/>
              </a:rPr>
              <a:t>“MS&amp;AD cut 52 cross-holdings this year.” You can act on that.</a:t>
            </a:r>
          </a:p>
        </p:txBody>
      </p:sp>
      <p:sp>
        <p:nvSpPr>
          <p:cNvPr id="9" name="Oval 8"/>
          <p:cNvSpPr/>
          <p:nvPr/>
        </p:nvSpPr>
        <p:spPr>
          <a:xfrm>
            <a:off x="7105326" y="2922849"/>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24782" y="2842839"/>
            <a:ext cx="4135392"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You can see what is watching. </a:t>
            </a:r>
            <a:r>
              <a:rPr sz="1500" b="0">
                <a:solidFill>
                  <a:srgbClr val="334155"/>
                </a:solidFill>
                <a:latin typeface="Helvetica Neue"/>
              </a:rPr>
              <a:t>Each specialist shows when it last ran and when it runs next.</a:t>
            </a:r>
          </a:p>
        </p:txBody>
      </p:sp>
      <p:sp>
        <p:nvSpPr>
          <p:cNvPr id="11" name="Oval 10"/>
          <p:cNvSpPr/>
          <p:nvPr/>
        </p:nvSpPr>
        <p:spPr>
          <a:xfrm>
            <a:off x="7105326" y="3863080"/>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24782" y="3783070"/>
            <a:ext cx="4135392"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Everything is sourced. </a:t>
            </a:r>
            <a:r>
              <a:rPr sz="1500" b="0">
                <a:solidFill>
                  <a:srgbClr val="334155"/>
                </a:solidFill>
                <a:latin typeface="Helvetica Neue"/>
              </a:rPr>
              <a:t>The filing, the badge, and the tool calls behind each line.</a:t>
            </a:r>
          </a:p>
        </p:txBody>
      </p:sp>
      <p:sp>
        <p:nvSpPr>
          <p:cNvPr id="13" name="Oval 12"/>
          <p:cNvSpPr/>
          <p:nvPr/>
        </p:nvSpPr>
        <p:spPr>
          <a:xfrm>
            <a:off x="7105326" y="4803312"/>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24782" y="4723302"/>
            <a:ext cx="4135392" cy="529285"/>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The desk belongs to the team, </a:t>
            </a:r>
            <a:r>
              <a:rPr sz="1500" b="0">
                <a:solidFill>
                  <a:srgbClr val="334155"/>
                </a:solidFill>
                <a:latin typeface="Helvetica Neue"/>
              </a:rPr>
              <a:t>not to one person's login.</a:t>
            </a:r>
          </a:p>
        </p:txBody>
      </p:sp>
      <p:sp>
        <p:nvSpPr>
          <p:cNvPr id="15" name="TextBox 14"/>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THE DESK</a:t>
            </a:r>
          </a:p>
        </p:txBody>
      </p:sp>
      <p:sp>
        <p:nvSpPr>
          <p:cNvPr id="16" name="TextBox 15"/>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Add specialists</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Each is an analyst with a written brief, a fixed set of tools it may use, a schedule and somewhere to report. We write them, version them and maintain them.</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Main.png"/>
          <p:cNvPicPr>
            <a:picLocks noChangeAspect="1"/>
          </p:cNvPicPr>
          <p:nvPr/>
        </p:nvPicPr>
        <p:blipFill>
          <a:blip r:embed="rId2"/>
          <a:stretch>
            <a:fillRect/>
          </a:stretch>
        </p:blipFill>
        <p:spPr>
          <a:xfrm>
            <a:off x="731520" y="1856887"/>
            <a:ext cx="5793473" cy="3862315"/>
          </a:xfrm>
          <a:prstGeom prst="rect">
            <a:avLst/>
          </a:prstGeom>
        </p:spPr>
      </p:pic>
      <p:sp>
        <p:nvSpPr>
          <p:cNvPr id="6" name="Rectangle 5"/>
          <p:cNvSpPr/>
          <p:nvPr/>
        </p:nvSpPr>
        <p:spPr>
          <a:xfrm>
            <a:off x="731520" y="1856887"/>
            <a:ext cx="5793473" cy="3862315"/>
          </a:xfrm>
          <a:prstGeom prst="rect">
            <a:avLst/>
          </a:prstGeom>
          <a:no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90753" y="1875175"/>
            <a:ext cx="4569421" cy="157734"/>
          </a:xfrm>
          <a:prstGeom prst="rect">
            <a:avLst/>
          </a:prstGeom>
          <a:noFill/>
        </p:spPr>
        <p:txBody>
          <a:bodyPr wrap="square" lIns="0" rIns="0" tIns="0" bIns="0" anchor="t">
            <a:spAutoFit/>
          </a:bodyPr>
          <a:lstStyle/>
          <a:p>
            <a:pPr algn="l">
              <a:lnSpc>
                <a:spcPct val="100000"/>
              </a:lnSpc>
              <a:spcAft>
                <a:spcPts val="0"/>
              </a:spcAft>
            </a:pPr>
            <a:r>
              <a:rPr sz="900" b="1">
                <a:solidFill>
                  <a:srgbClr val="64748B"/>
                </a:solidFill>
                <a:latin typeface="Helvetica Neue"/>
              </a:rPr>
              <a:t>WHY WE WRITE THEM RATHER THAN LET CUSTOMERS DO IT</a:t>
            </a:r>
          </a:p>
        </p:txBody>
      </p:sp>
      <p:sp>
        <p:nvSpPr>
          <p:cNvPr id="8" name="TextBox 7"/>
          <p:cNvSpPr txBox="1"/>
          <p:nvPr/>
        </p:nvSpPr>
        <p:spPr>
          <a:xfrm>
            <a:off x="6890753" y="2234077"/>
            <a:ext cx="4569421" cy="243890"/>
          </a:xfrm>
          <a:prstGeom prst="rect">
            <a:avLst/>
          </a:prstGeom>
          <a:noFill/>
        </p:spPr>
        <p:txBody>
          <a:bodyPr wrap="square" lIns="0" rIns="0" tIns="0" bIns="0" anchor="t">
            <a:spAutoFit/>
          </a:bodyPr>
          <a:lstStyle/>
          <a:p>
            <a:pPr algn="l">
              <a:lnSpc>
                <a:spcPct val="110000"/>
              </a:lnSpc>
              <a:spcAft>
                <a:spcPts val="0"/>
              </a:spcAft>
            </a:pPr>
            <a:r>
              <a:rPr sz="1400" b="1">
                <a:solidFill>
                  <a:srgbClr val="0F172A"/>
                </a:solidFill>
                <a:latin typeface="Helvetica Neue"/>
              </a:rPr>
              <a:t>They have version numbers</a:t>
            </a:r>
          </a:p>
        </p:txBody>
      </p:sp>
      <p:sp>
        <p:nvSpPr>
          <p:cNvPr id="9" name="TextBox 8"/>
          <p:cNvSpPr txBox="1"/>
          <p:nvPr/>
        </p:nvSpPr>
        <p:spPr>
          <a:xfrm>
            <a:off x="6890753" y="2514544"/>
            <a:ext cx="4569421" cy="637519"/>
          </a:xfrm>
          <a:prstGeom prst="rect">
            <a:avLst/>
          </a:prstGeom>
          <a:noFill/>
        </p:spPr>
        <p:txBody>
          <a:bodyPr wrap="square" lIns="0" rIns="0" tIns="0" bIns="0" anchor="t">
            <a:spAutoFit/>
          </a:bodyPr>
          <a:lstStyle/>
          <a:p>
            <a:pPr algn="l">
              <a:lnSpc>
                <a:spcPct val="124000"/>
              </a:lnSpc>
              <a:spcAft>
                <a:spcPts val="0"/>
              </a:spcAft>
            </a:pPr>
            <a:r>
              <a:rPr sz="1200" b="0">
                <a:solidFill>
                  <a:srgbClr val="334155"/>
                </a:solidFill>
                <a:latin typeface="Helvetica Neue"/>
              </a:rPr>
              <a:t>You accept an update the way you would for any software. A prompt that quietly changes its behaviour is not something a firm can rely on.</a:t>
            </a:r>
          </a:p>
        </p:txBody>
      </p:sp>
      <p:sp>
        <p:nvSpPr>
          <p:cNvPr id="10" name="TextBox 9"/>
          <p:cNvSpPr txBox="1"/>
          <p:nvPr/>
        </p:nvSpPr>
        <p:spPr>
          <a:xfrm>
            <a:off x="6890753" y="3389807"/>
            <a:ext cx="4569421" cy="243890"/>
          </a:xfrm>
          <a:prstGeom prst="rect">
            <a:avLst/>
          </a:prstGeom>
          <a:noFill/>
        </p:spPr>
        <p:txBody>
          <a:bodyPr wrap="square" lIns="0" rIns="0" tIns="0" bIns="0" anchor="t">
            <a:spAutoFit/>
          </a:bodyPr>
          <a:lstStyle/>
          <a:p>
            <a:pPr algn="l">
              <a:lnSpc>
                <a:spcPct val="110000"/>
              </a:lnSpc>
              <a:spcAft>
                <a:spcPts val="0"/>
              </a:spcAft>
            </a:pPr>
            <a:r>
              <a:rPr sz="1400" b="1">
                <a:solidFill>
                  <a:srgbClr val="0F172A"/>
                </a:solidFill>
                <a:latin typeface="Helvetica Neue"/>
              </a:rPr>
              <a:t>We can say exactly what they can reach</a:t>
            </a:r>
          </a:p>
        </p:txBody>
      </p:sp>
      <p:sp>
        <p:nvSpPr>
          <p:cNvPr id="11" name="TextBox 10"/>
          <p:cNvSpPr txBox="1"/>
          <p:nvPr/>
        </p:nvSpPr>
        <p:spPr>
          <a:xfrm>
            <a:off x="6890753" y="3670274"/>
            <a:ext cx="4569421" cy="437205"/>
          </a:xfrm>
          <a:prstGeom prst="rect">
            <a:avLst/>
          </a:prstGeom>
          <a:noFill/>
        </p:spPr>
        <p:txBody>
          <a:bodyPr wrap="square" lIns="0" rIns="0" tIns="0" bIns="0" anchor="t">
            <a:spAutoFit/>
          </a:bodyPr>
          <a:lstStyle/>
          <a:p>
            <a:pPr algn="l">
              <a:lnSpc>
                <a:spcPct val="124000"/>
              </a:lnSpc>
              <a:spcAft>
                <a:spcPts val="0"/>
              </a:spcAft>
            </a:pPr>
            <a:r>
              <a:rPr sz="1200" b="0">
                <a:solidFill>
                  <a:srgbClr val="334155"/>
                </a:solidFill>
                <a:latin typeface="Helvetica Neue"/>
              </a:rPr>
              <a:t>Each one has a fixed list of tools, so we can answer the security question precisely instead of vaguely.</a:t>
            </a:r>
          </a:p>
        </p:txBody>
      </p:sp>
      <p:sp>
        <p:nvSpPr>
          <p:cNvPr id="12" name="TextBox 11"/>
          <p:cNvSpPr txBox="1"/>
          <p:nvPr/>
        </p:nvSpPr>
        <p:spPr>
          <a:xfrm>
            <a:off x="6890753" y="4345223"/>
            <a:ext cx="4569421" cy="243890"/>
          </a:xfrm>
          <a:prstGeom prst="rect">
            <a:avLst/>
          </a:prstGeom>
          <a:noFill/>
        </p:spPr>
        <p:txBody>
          <a:bodyPr wrap="square" lIns="0" rIns="0" tIns="0" bIns="0" anchor="t">
            <a:spAutoFit/>
          </a:bodyPr>
          <a:lstStyle/>
          <a:p>
            <a:pPr algn="l">
              <a:lnSpc>
                <a:spcPct val="110000"/>
              </a:lnSpc>
              <a:spcAft>
                <a:spcPts val="0"/>
              </a:spcAft>
            </a:pPr>
            <a:r>
              <a:rPr sz="1400" b="1">
                <a:solidFill>
                  <a:srgbClr val="0F172A"/>
                </a:solidFill>
                <a:latin typeface="Helvetica Neue"/>
              </a:rPr>
              <a:t>One fix reaches everybody</a:t>
            </a:r>
          </a:p>
        </p:txBody>
      </p:sp>
      <p:sp>
        <p:nvSpPr>
          <p:cNvPr id="13" name="TextBox 12"/>
          <p:cNvSpPr txBox="1"/>
          <p:nvPr/>
        </p:nvSpPr>
        <p:spPr>
          <a:xfrm>
            <a:off x="6890753" y="4625690"/>
            <a:ext cx="4569421" cy="637519"/>
          </a:xfrm>
          <a:prstGeom prst="rect">
            <a:avLst/>
          </a:prstGeom>
          <a:noFill/>
        </p:spPr>
        <p:txBody>
          <a:bodyPr wrap="square" lIns="0" rIns="0" tIns="0" bIns="0" anchor="t">
            <a:spAutoFit/>
          </a:bodyPr>
          <a:lstStyle/>
          <a:p>
            <a:pPr algn="l">
              <a:lnSpc>
                <a:spcPct val="124000"/>
              </a:lnSpc>
              <a:spcAft>
                <a:spcPts val="0"/>
              </a:spcAft>
            </a:pPr>
            <a:r>
              <a:rPr sz="1200" b="0">
                <a:solidFill>
                  <a:srgbClr val="334155"/>
                </a:solidFill>
                <a:latin typeface="Helvetica Neue"/>
              </a:rPr>
              <a:t>Nine briefs we maintain is a product. Ten thousand that customers wrote is a support problem we could not survive.</a:t>
            </a:r>
          </a:p>
        </p:txBody>
      </p:sp>
      <p:sp>
        <p:nvSpPr>
          <p:cNvPr id="14" name="TextBox 13"/>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SPECIALISTS</a:t>
            </a:r>
          </a:p>
        </p:txBody>
      </p:sp>
      <p:sp>
        <p:nvSpPr>
          <p:cNvPr id="15" name="TextBox 14"/>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One up close</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The Cross-Shareholding Monitor reads the policy-shareholding section of every annual report on your names, and tells you who is selling down and why.</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Agent.png"/>
          <p:cNvPicPr>
            <a:picLocks noChangeAspect="1"/>
          </p:cNvPicPr>
          <p:nvPr/>
        </p:nvPicPr>
        <p:blipFill>
          <a:blip r:embed="rId2"/>
          <a:stretch>
            <a:fillRect/>
          </a:stretch>
        </p:blipFill>
        <p:spPr>
          <a:xfrm>
            <a:off x="731520" y="1856887"/>
            <a:ext cx="5578900" cy="3796751"/>
          </a:xfrm>
          <a:prstGeom prst="rect">
            <a:avLst/>
          </a:prstGeom>
        </p:spPr>
      </p:pic>
      <p:sp>
        <p:nvSpPr>
          <p:cNvPr id="6" name="Rectangle 5"/>
          <p:cNvSpPr/>
          <p:nvPr/>
        </p:nvSpPr>
        <p:spPr>
          <a:xfrm>
            <a:off x="731520" y="1856887"/>
            <a:ext cx="5578900" cy="3796751"/>
          </a:xfrm>
          <a:prstGeom prst="rect">
            <a:avLst/>
          </a:prstGeom>
          <a:no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676180" y="1955185"/>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95636" y="1875175"/>
            <a:ext cx="4564538" cy="1021994"/>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Why this one matters. </a:t>
            </a:r>
            <a:r>
              <a:rPr sz="1500" b="0">
                <a:solidFill>
                  <a:srgbClr val="334155"/>
                </a:solidFill>
                <a:latin typeface="Helvetica Neue"/>
              </a:rPr>
              <a:t>Japanese companies still hold about ¥59tn of each other's shares and are under pressure to sell. Every disposal is disclosed, and almost nobody reads them.</a:t>
            </a:r>
          </a:p>
        </p:txBody>
      </p:sp>
      <p:sp>
        <p:nvSpPr>
          <p:cNvPr id="9" name="Oval 8"/>
          <p:cNvSpPr/>
          <p:nvPr/>
        </p:nvSpPr>
        <p:spPr>
          <a:xfrm>
            <a:off x="6676180" y="3214923"/>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95636" y="3134913"/>
            <a:ext cx="4564538"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It explains itself. </a:t>
            </a:r>
            <a:r>
              <a:rPr sz="1500" b="0">
                <a:solidFill>
                  <a:srgbClr val="334155"/>
                </a:solidFill>
                <a:latin typeface="Helvetica Neue"/>
              </a:rPr>
              <a:t>The page says what it watches, which tools it uses for each part, and what it needs from you.</a:t>
            </a:r>
          </a:p>
        </p:txBody>
      </p:sp>
      <p:sp>
        <p:nvSpPr>
          <p:cNvPr id="11" name="Oval 10"/>
          <p:cNvSpPr/>
          <p:nvPr/>
        </p:nvSpPr>
        <p:spPr>
          <a:xfrm>
            <a:off x="6676180" y="4228307"/>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95636" y="4148297"/>
            <a:ext cx="4564538"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You can see every run. </a:t>
            </a:r>
            <a:r>
              <a:rPr sz="1500" b="0">
                <a:solidFill>
                  <a:srgbClr val="334155"/>
                </a:solidFill>
                <a:latin typeface="Helvetica Neue"/>
              </a:rPr>
              <a:t>When it ran, what set it off, what it found, and what it did about it.</a:t>
            </a:r>
          </a:p>
        </p:txBody>
      </p:sp>
      <p:sp>
        <p:nvSpPr>
          <p:cNvPr id="13" name="Oval 12"/>
          <p:cNvSpPr/>
          <p:nvPr/>
        </p:nvSpPr>
        <p:spPr>
          <a:xfrm>
            <a:off x="6676180" y="5241691"/>
            <a:ext cx="64008" cy="64008"/>
          </a:xfrm>
          <a:prstGeom prst="ellipse">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95636" y="5161681"/>
            <a:ext cx="4564538" cy="775639"/>
          </a:xfrm>
          <a:prstGeom prst="rect">
            <a:avLst/>
          </a:prstGeom>
          <a:noFill/>
        </p:spPr>
        <p:txBody>
          <a:bodyPr wrap="square" lIns="0" rIns="0" tIns="0" bIns="0" anchor="t">
            <a:spAutoFit/>
          </a:bodyPr>
          <a:lstStyle/>
          <a:p>
            <a:pPr algn="l">
              <a:lnSpc>
                <a:spcPct val="122000"/>
              </a:lnSpc>
              <a:spcAft>
                <a:spcPts val="0"/>
              </a:spcAft>
            </a:pPr>
            <a:r>
              <a:rPr sz="1500" b="1">
                <a:solidFill>
                  <a:srgbClr val="0F172A"/>
                </a:solidFill>
                <a:latin typeface="Helvetica Neue"/>
              </a:rPr>
              <a:t>You can ask it things. </a:t>
            </a:r>
            <a:r>
              <a:rPr sz="1500" b="0">
                <a:solidFill>
                  <a:srgbClr val="334155"/>
                </a:solidFill>
                <a:latin typeface="Helvetica Neue"/>
              </a:rPr>
              <a:t>Threads sit alongside the scheduled work and keep their own memory.</a:t>
            </a:r>
          </a:p>
        </p:txBody>
      </p:sp>
      <p:sp>
        <p:nvSpPr>
          <p:cNvPr id="15" name="TextBox 14"/>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ONE UP CLOSE</a:t>
            </a:r>
          </a:p>
        </p:txBody>
      </p:sp>
      <p:sp>
        <p:nvSpPr>
          <p:cNvPr id="16" name="TextBox 15"/>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Approval and audit</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It can read everything, but it cannot send anything until you have approved it. These are the two screens a compliance officer asks about first.</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i-Inbox.png"/>
          <p:cNvPicPr>
            <a:picLocks noChangeAspect="1"/>
          </p:cNvPicPr>
          <p:nvPr/>
        </p:nvPicPr>
        <p:blipFill>
          <a:blip r:embed="rId2"/>
          <a:srcRect b="17715"/>
          <a:stretch>
            <a:fillRect/>
          </a:stretch>
        </p:blipFill>
        <p:spPr>
          <a:xfrm>
            <a:off x="731520" y="1856887"/>
            <a:ext cx="5158587" cy="2240280"/>
          </a:xfrm>
          <a:prstGeom prst="rect">
            <a:avLst/>
          </a:prstGeom>
        </p:spPr>
      </p:pic>
      <p:sp>
        <p:nvSpPr>
          <p:cNvPr id="6" name="Rectangle 5"/>
          <p:cNvSpPr/>
          <p:nvPr/>
        </p:nvSpPr>
        <p:spPr>
          <a:xfrm>
            <a:off x="731520" y="1856887"/>
            <a:ext cx="5158587" cy="2240280"/>
          </a:xfrm>
          <a:prstGeom prst="rect">
            <a:avLst/>
          </a:prstGeom>
          <a:no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80047"/>
            <a:ext cx="5158587" cy="617124"/>
          </a:xfrm>
          <a:prstGeom prst="rect">
            <a:avLst/>
          </a:prstGeom>
          <a:noFill/>
        </p:spPr>
        <p:txBody>
          <a:bodyPr wrap="square" lIns="0" rIns="0" tIns="0" bIns="0" anchor="t">
            <a:spAutoFit/>
          </a:bodyPr>
          <a:lstStyle/>
          <a:p>
            <a:pPr algn="l">
              <a:lnSpc>
                <a:spcPct val="125000"/>
              </a:lnSpc>
              <a:spcAft>
                <a:spcPts val="0"/>
              </a:spcAft>
            </a:pPr>
            <a:r>
              <a:rPr sz="1150" b="0">
                <a:solidFill>
                  <a:srgbClr val="334155"/>
                </a:solidFill>
                <a:latin typeface="Helvetica Neue"/>
              </a:rPr>
              <a:t>Before a specialist posts to Slack or sends an email, it stops and shows you the exact words. Reading the database never needs approval. Anything leaving the desk always does.</a:t>
            </a:r>
          </a:p>
        </p:txBody>
      </p:sp>
      <p:pic>
        <p:nvPicPr>
          <p:cNvPr id="8" name="Picture 7" descr="ui-Audit.png"/>
          <p:cNvPicPr>
            <a:picLocks noChangeAspect="1"/>
          </p:cNvPicPr>
          <p:nvPr/>
        </p:nvPicPr>
        <p:blipFill>
          <a:blip r:embed="rId3"/>
          <a:srcRect b="30515"/>
          <a:stretch>
            <a:fillRect/>
          </a:stretch>
        </p:blipFill>
        <p:spPr>
          <a:xfrm>
            <a:off x="6301587" y="1856887"/>
            <a:ext cx="5158587" cy="2240280"/>
          </a:xfrm>
          <a:prstGeom prst="rect">
            <a:avLst/>
          </a:prstGeom>
        </p:spPr>
      </p:pic>
      <p:sp>
        <p:nvSpPr>
          <p:cNvPr id="9" name="Rectangle 8"/>
          <p:cNvSpPr/>
          <p:nvPr/>
        </p:nvSpPr>
        <p:spPr>
          <a:xfrm>
            <a:off x="6301587" y="1856887"/>
            <a:ext cx="5158587" cy="2240280"/>
          </a:xfrm>
          <a:prstGeom prst="rect">
            <a:avLst/>
          </a:prstGeom>
          <a:no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1587" y="4280047"/>
            <a:ext cx="5158587" cy="617124"/>
          </a:xfrm>
          <a:prstGeom prst="rect">
            <a:avLst/>
          </a:prstGeom>
          <a:noFill/>
        </p:spPr>
        <p:txBody>
          <a:bodyPr wrap="square" lIns="0" rIns="0" tIns="0" bIns="0" anchor="t">
            <a:spAutoFit/>
          </a:bodyPr>
          <a:lstStyle/>
          <a:p>
            <a:pPr algn="l">
              <a:lnSpc>
                <a:spcPct val="125000"/>
              </a:lnSpc>
              <a:spcAft>
                <a:spcPts val="0"/>
              </a:spcAft>
            </a:pPr>
            <a:r>
              <a:rPr sz="1150" b="0">
                <a:solidFill>
                  <a:srgbClr val="334155"/>
                </a:solidFill>
                <a:latin typeface="Helvetica Neue"/>
              </a:rPr>
              <a:t>Every tool, who used it and how often, and the runs, calls and tokens behind them. You can answer “what has this thing been doing?” precisely.</a:t>
            </a:r>
          </a:p>
        </p:txBody>
      </p:sp>
      <p:sp>
        <p:nvSpPr>
          <p:cNvPr id="11" name="Rectangle 10"/>
          <p:cNvSpPr/>
          <p:nvPr/>
        </p:nvSpPr>
        <p:spPr>
          <a:xfrm>
            <a:off x="731520" y="4993279"/>
            <a:ext cx="10728655" cy="822960"/>
          </a:xfrm>
          <a:prstGeom prst="rect">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5194447"/>
            <a:ext cx="10106863" cy="484591"/>
          </a:xfrm>
          <a:prstGeom prst="rect">
            <a:avLst/>
          </a:prstGeom>
          <a:noFill/>
        </p:spPr>
        <p:txBody>
          <a:bodyPr wrap="square" lIns="0" rIns="0" tIns="0" bIns="0" anchor="t">
            <a:spAutoFit/>
          </a:bodyPr>
          <a:lstStyle/>
          <a:p>
            <a:pPr algn="l">
              <a:lnSpc>
                <a:spcPct val="128000"/>
              </a:lnSpc>
              <a:spcAft>
                <a:spcPts val="0"/>
              </a:spcAft>
            </a:pPr>
            <a:r>
              <a:rPr sz="1300" b="1">
                <a:solidFill>
                  <a:srgbClr val="0F172A"/>
                </a:solidFill>
                <a:latin typeface="Helvetica Neue"/>
              </a:rPr>
              <a:t>There is no tool that can place a trade, and no way to add one. </a:t>
            </a:r>
            <a:r>
              <a:rPr sz="1300" b="0">
                <a:solidFill>
                  <a:srgbClr val="334155"/>
                </a:solidFill>
                <a:latin typeface="Helvetica Neue"/>
              </a:rPr>
              <a:t>We are not in the order path and do not intend to be. That is usually the sentence that settles the room.</a:t>
            </a:r>
          </a:p>
        </p:txBody>
      </p:sp>
      <p:sp>
        <p:nvSpPr>
          <p:cNvPr id="13" name="TextBox 12"/>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CONTROL</a:t>
            </a:r>
          </a:p>
        </p:txBody>
      </p:sp>
      <p:sp>
        <p:nvSpPr>
          <p:cNvPr id="14" name="TextBox 13"/>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Under the hood</a:t>
            </a:r>
          </a:p>
        </p:txBody>
      </p:sp>
      <p:sp>
        <p:nvSpPr>
          <p:cNvPr id="3" name="TextBox 2"/>
          <p:cNvSpPr txBox="1"/>
          <p:nvPr/>
        </p:nvSpPr>
        <p:spPr>
          <a:xfrm>
            <a:off x="731520" y="932688"/>
            <a:ext cx="10728655"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How a specialist actually runs. The tools it may use are enforced by our runner, not by the wording of its brief, and every call is written down.</a:t>
            </a:r>
          </a:p>
        </p:txBody>
      </p:sp>
      <p:sp>
        <p:nvSpPr>
          <p:cNvPr id="4" name="Rectangle 3"/>
          <p:cNvSpPr/>
          <p:nvPr/>
        </p:nvSpPr>
        <p:spPr>
          <a:xfrm>
            <a:off x="731520" y="1371600"/>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diagram.png"/>
          <p:cNvPicPr>
            <a:picLocks noChangeAspect="1"/>
          </p:cNvPicPr>
          <p:nvPr/>
        </p:nvPicPr>
        <p:blipFill>
          <a:blip r:embed="rId2"/>
          <a:stretch>
            <a:fillRect/>
          </a:stretch>
        </p:blipFill>
        <p:spPr>
          <a:xfrm>
            <a:off x="1957969" y="1554480"/>
            <a:ext cx="8275755" cy="4041648"/>
          </a:xfrm>
          <a:prstGeom prst="rect">
            <a:avLst/>
          </a:prstGeom>
        </p:spPr>
      </p:pic>
      <p:sp>
        <p:nvSpPr>
          <p:cNvPr id="6" name="TextBox 5"/>
          <p:cNvSpPr txBox="1"/>
          <p:nvPr/>
        </p:nvSpPr>
        <p:spPr>
          <a:xfrm>
            <a:off x="731520" y="5815584"/>
            <a:ext cx="10728655" cy="391972"/>
          </a:xfrm>
          <a:prstGeom prst="rect">
            <a:avLst/>
          </a:prstGeom>
          <a:noFill/>
        </p:spPr>
        <p:txBody>
          <a:bodyPr wrap="square" lIns="0" rIns="0" tIns="0" bIns="0" anchor="t">
            <a:spAutoFit/>
          </a:bodyPr>
          <a:lstStyle/>
          <a:p>
            <a:pPr algn="l">
              <a:lnSpc>
                <a:spcPct val="120000"/>
              </a:lnSpc>
              <a:spcAft>
                <a:spcPts val="0"/>
              </a:spcAft>
            </a:pPr>
            <a:r>
              <a:rPr sz="1100" b="0">
                <a:solidFill>
                  <a:srgbClr val="334155"/>
                </a:solidFill>
                <a:latin typeface="Helvetica Neue"/>
              </a:rPr>
              <a:t>Blue is the work the model does: it reads through tools, then acts through four of them. Amber is the only line that matters, and crossing it needs a person. </a:t>
            </a:r>
            <a:r>
              <a:rPr sz="1100" b="1">
                <a:solidFill>
                  <a:srgbClr val="0F172A"/>
                </a:solidFill>
                <a:latin typeface="Helvetica Neue"/>
              </a:rPr>
              <a:t>The model runs on the customer's own account, not ours.</a:t>
            </a:r>
          </a:p>
        </p:txBody>
      </p:sp>
      <p:sp>
        <p:nvSpPr>
          <p:cNvPr id="7" name="TextBox 6"/>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UNDER THE HOOD</a:t>
            </a:r>
          </a:p>
        </p:txBody>
      </p:sp>
      <p:sp>
        <p:nvSpPr>
          <p:cNvPr id="8" name="TextBox 7"/>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Users and tiers</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Four kinds of user on the same database, with the same provenance. What differs is what each needs from it and how they pay.</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56887"/>
            <a:ext cx="5181447" cy="1517904"/>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56887"/>
            <a:ext cx="45720" cy="1517904"/>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76343"/>
            <a:ext cx="2895447" cy="269805"/>
          </a:xfrm>
          <a:prstGeom prst="rect">
            <a:avLst/>
          </a:prstGeom>
          <a:noFill/>
        </p:spPr>
        <p:txBody>
          <a:bodyPr wrap="square" lIns="0" rIns="0" tIns="0" bIns="0" anchor="t">
            <a:spAutoFit/>
          </a:bodyPr>
          <a:lstStyle/>
          <a:p>
            <a:pPr algn="l">
              <a:lnSpc>
                <a:spcPct val="105000"/>
              </a:lnSpc>
              <a:spcAft>
                <a:spcPts val="0"/>
              </a:spcAft>
            </a:pPr>
            <a:r>
              <a:rPr sz="1650" b="1">
                <a:solidFill>
                  <a:srgbClr val="0F172A"/>
                </a:solidFill>
                <a:latin typeface="Helvetica Neue"/>
              </a:rPr>
              <a:t>Investment firms</a:t>
            </a:r>
          </a:p>
        </p:txBody>
      </p:sp>
      <p:sp>
        <p:nvSpPr>
          <p:cNvPr id="8" name="TextBox 7"/>
          <p:cNvSpPr txBox="1"/>
          <p:nvPr/>
        </p:nvSpPr>
        <p:spPr>
          <a:xfrm>
            <a:off x="4175607" y="2131207"/>
            <a:ext cx="1463040" cy="171196"/>
          </a:xfrm>
          <a:prstGeom prst="rect">
            <a:avLst/>
          </a:prstGeom>
          <a:noFill/>
        </p:spPr>
        <p:txBody>
          <a:bodyPr wrap="square" lIns="0" rIns="0" tIns="0" bIns="0" anchor="t">
            <a:spAutoFit/>
          </a:bodyPr>
          <a:lstStyle/>
          <a:p>
            <a:pPr algn="r">
              <a:lnSpc>
                <a:spcPct val="100000"/>
              </a:lnSpc>
              <a:spcAft>
                <a:spcPts val="0"/>
              </a:spcAft>
            </a:pPr>
            <a:r>
              <a:rPr sz="1000" b="1">
                <a:solidFill>
                  <a:srgbClr val="1A4D8F"/>
                </a:solidFill>
                <a:latin typeface="Helvetica Neue"/>
              </a:rPr>
              <a:t>FIRM TIER</a:t>
            </a:r>
          </a:p>
        </p:txBody>
      </p:sp>
      <p:sp>
        <p:nvSpPr>
          <p:cNvPr id="9" name="TextBox 8"/>
          <p:cNvSpPr txBox="1"/>
          <p:nvPr/>
        </p:nvSpPr>
        <p:spPr>
          <a:xfrm>
            <a:off x="1005840" y="2460391"/>
            <a:ext cx="4632807" cy="642366"/>
          </a:xfrm>
          <a:prstGeom prst="rect">
            <a:avLst/>
          </a:prstGeom>
          <a:noFill/>
        </p:spPr>
        <p:txBody>
          <a:bodyPr wrap="square" lIns="0" rIns="0" tIns="0" bIns="0" anchor="t">
            <a:spAutoFit/>
          </a:bodyPr>
          <a:lstStyle/>
          <a:p>
            <a:pPr algn="l">
              <a:lnSpc>
                <a:spcPct val="125000"/>
              </a:lnSpc>
              <a:spcAft>
                <a:spcPts val="0"/>
              </a:spcAft>
            </a:pPr>
            <a:r>
              <a:rPr sz="1200" b="0">
                <a:solidFill>
                  <a:srgbClr val="334155"/>
                </a:solidFill>
                <a:latin typeface="Helvetica Neue"/>
              </a:rPr>
              <a:t>Analysts, portfolio managers and quant teams. They want a watch on the companies they cover, history they can test against, and screens a terminal does not offer.</a:t>
            </a:r>
          </a:p>
        </p:txBody>
      </p:sp>
      <p:sp>
        <p:nvSpPr>
          <p:cNvPr id="10" name="Rectangle 9"/>
          <p:cNvSpPr/>
          <p:nvPr/>
        </p:nvSpPr>
        <p:spPr>
          <a:xfrm>
            <a:off x="6278727" y="1856887"/>
            <a:ext cx="5181447" cy="1517904"/>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8727" y="1856887"/>
            <a:ext cx="45720" cy="1517904"/>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3047" y="2076343"/>
            <a:ext cx="2895447" cy="269805"/>
          </a:xfrm>
          <a:prstGeom prst="rect">
            <a:avLst/>
          </a:prstGeom>
          <a:noFill/>
        </p:spPr>
        <p:txBody>
          <a:bodyPr wrap="square" lIns="0" rIns="0" tIns="0" bIns="0" anchor="t">
            <a:spAutoFit/>
          </a:bodyPr>
          <a:lstStyle/>
          <a:p>
            <a:pPr algn="l">
              <a:lnSpc>
                <a:spcPct val="105000"/>
              </a:lnSpc>
              <a:spcAft>
                <a:spcPts val="0"/>
              </a:spcAft>
            </a:pPr>
            <a:r>
              <a:rPr sz="1650" b="1">
                <a:solidFill>
                  <a:srgbClr val="0F172A"/>
                </a:solidFill>
                <a:latin typeface="Helvetica Neue"/>
              </a:rPr>
              <a:t>Researchers</a:t>
            </a:r>
          </a:p>
        </p:txBody>
      </p:sp>
      <p:sp>
        <p:nvSpPr>
          <p:cNvPr id="13" name="TextBox 12"/>
          <p:cNvSpPr txBox="1"/>
          <p:nvPr/>
        </p:nvSpPr>
        <p:spPr>
          <a:xfrm>
            <a:off x="9722815" y="2131207"/>
            <a:ext cx="1463040" cy="171196"/>
          </a:xfrm>
          <a:prstGeom prst="rect">
            <a:avLst/>
          </a:prstGeom>
          <a:noFill/>
        </p:spPr>
        <p:txBody>
          <a:bodyPr wrap="square" lIns="0" rIns="0" tIns="0" bIns="0" anchor="t">
            <a:spAutoFit/>
          </a:bodyPr>
          <a:lstStyle/>
          <a:p>
            <a:pPr algn="r">
              <a:lnSpc>
                <a:spcPct val="100000"/>
              </a:lnSpc>
              <a:spcAft>
                <a:spcPts val="0"/>
              </a:spcAft>
            </a:pPr>
            <a:r>
              <a:rPr sz="1000" b="1">
                <a:solidFill>
                  <a:srgbClr val="1A4D8F"/>
                </a:solidFill>
                <a:latin typeface="Helvetica Neue"/>
              </a:rPr>
              <a:t>FREE</a:t>
            </a:r>
          </a:p>
        </p:txBody>
      </p:sp>
      <p:sp>
        <p:nvSpPr>
          <p:cNvPr id="14" name="TextBox 13"/>
          <p:cNvSpPr txBox="1"/>
          <p:nvPr/>
        </p:nvSpPr>
        <p:spPr>
          <a:xfrm>
            <a:off x="6553047" y="2460391"/>
            <a:ext cx="4632807" cy="642366"/>
          </a:xfrm>
          <a:prstGeom prst="rect">
            <a:avLst/>
          </a:prstGeom>
          <a:noFill/>
        </p:spPr>
        <p:txBody>
          <a:bodyPr wrap="square" lIns="0" rIns="0" tIns="0" bIns="0" anchor="t">
            <a:spAutoFit/>
          </a:bodyPr>
          <a:lstStyle/>
          <a:p>
            <a:pPr algn="l">
              <a:lnSpc>
                <a:spcPct val="125000"/>
              </a:lnSpc>
              <a:spcAft>
                <a:spcPts val="0"/>
              </a:spcAft>
            </a:pPr>
            <a:r>
              <a:rPr sz="1200" b="0">
                <a:solidFill>
                  <a:srgbClr val="334155"/>
                </a:solidFill>
                <a:latin typeface="Helvetica Neue"/>
              </a:rPr>
              <a:t>Economists and finance academics. They need data they can cite and reproduce years later. We give it away, because their citations make us the obvious source.</a:t>
            </a:r>
          </a:p>
        </p:txBody>
      </p:sp>
      <p:sp>
        <p:nvSpPr>
          <p:cNvPr id="15" name="Rectangle 14"/>
          <p:cNvSpPr/>
          <p:nvPr/>
        </p:nvSpPr>
        <p:spPr>
          <a:xfrm>
            <a:off x="731520" y="3557671"/>
            <a:ext cx="5181447" cy="1517904"/>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557671"/>
            <a:ext cx="45720" cy="151790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77127"/>
            <a:ext cx="2895447" cy="269805"/>
          </a:xfrm>
          <a:prstGeom prst="rect">
            <a:avLst/>
          </a:prstGeom>
          <a:noFill/>
        </p:spPr>
        <p:txBody>
          <a:bodyPr wrap="square" lIns="0" rIns="0" tIns="0" bIns="0" anchor="t">
            <a:spAutoFit/>
          </a:bodyPr>
          <a:lstStyle/>
          <a:p>
            <a:pPr algn="l">
              <a:lnSpc>
                <a:spcPct val="105000"/>
              </a:lnSpc>
              <a:spcAft>
                <a:spcPts val="0"/>
              </a:spcAft>
            </a:pPr>
            <a:r>
              <a:rPr sz="1650" b="1">
                <a:solidFill>
                  <a:srgbClr val="0F172A"/>
                </a:solidFill>
                <a:latin typeface="Helvetica Neue"/>
              </a:rPr>
              <a:t>Journalists</a:t>
            </a:r>
          </a:p>
        </p:txBody>
      </p:sp>
      <p:sp>
        <p:nvSpPr>
          <p:cNvPr id="18" name="TextBox 17"/>
          <p:cNvSpPr txBox="1"/>
          <p:nvPr/>
        </p:nvSpPr>
        <p:spPr>
          <a:xfrm>
            <a:off x="4175607" y="3831991"/>
            <a:ext cx="1463040" cy="171196"/>
          </a:xfrm>
          <a:prstGeom prst="rect">
            <a:avLst/>
          </a:prstGeom>
          <a:noFill/>
        </p:spPr>
        <p:txBody>
          <a:bodyPr wrap="square" lIns="0" rIns="0" tIns="0" bIns="0" anchor="t">
            <a:spAutoFit/>
          </a:bodyPr>
          <a:lstStyle/>
          <a:p>
            <a:pPr algn="r">
              <a:lnSpc>
                <a:spcPct val="100000"/>
              </a:lnSpc>
              <a:spcAft>
                <a:spcPts val="0"/>
              </a:spcAft>
            </a:pPr>
            <a:r>
              <a:rPr sz="1000" b="1">
                <a:solidFill>
                  <a:srgbClr val="C2410C"/>
                </a:solidFill>
                <a:latin typeface="Helvetica Neue"/>
              </a:rPr>
              <a:t>INDIVIDUAL TIER</a:t>
            </a:r>
          </a:p>
        </p:txBody>
      </p:sp>
      <p:sp>
        <p:nvSpPr>
          <p:cNvPr id="19" name="TextBox 18"/>
          <p:cNvSpPr txBox="1"/>
          <p:nvPr/>
        </p:nvSpPr>
        <p:spPr>
          <a:xfrm>
            <a:off x="1005840" y="4161175"/>
            <a:ext cx="4632807" cy="642366"/>
          </a:xfrm>
          <a:prstGeom prst="rect">
            <a:avLst/>
          </a:prstGeom>
          <a:noFill/>
        </p:spPr>
        <p:txBody>
          <a:bodyPr wrap="square" lIns="0" rIns="0" tIns="0" bIns="0" anchor="t">
            <a:spAutoFit/>
          </a:bodyPr>
          <a:lstStyle/>
          <a:p>
            <a:pPr algn="l">
              <a:lnSpc>
                <a:spcPct val="125000"/>
              </a:lnSpc>
              <a:spcAft>
                <a:spcPts val="0"/>
              </a:spcAft>
            </a:pPr>
            <a:r>
              <a:rPr sz="1200" b="0">
                <a:solidFill>
                  <a:srgbClr val="334155"/>
                </a:solidFill>
                <a:latin typeface="Helvetica Neue"/>
              </a:rPr>
              <a:t>Financial and investigative reporters. One sourced answer to one question, with the filing attached. The assistant does the reading.</a:t>
            </a:r>
          </a:p>
        </p:txBody>
      </p:sp>
      <p:sp>
        <p:nvSpPr>
          <p:cNvPr id="20" name="Rectangle 19"/>
          <p:cNvSpPr/>
          <p:nvPr/>
        </p:nvSpPr>
        <p:spPr>
          <a:xfrm>
            <a:off x="6278727" y="3557671"/>
            <a:ext cx="5181447" cy="1517904"/>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8727" y="3557671"/>
            <a:ext cx="45720" cy="151790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3777127"/>
            <a:ext cx="2895447" cy="269805"/>
          </a:xfrm>
          <a:prstGeom prst="rect">
            <a:avLst/>
          </a:prstGeom>
          <a:noFill/>
        </p:spPr>
        <p:txBody>
          <a:bodyPr wrap="square" lIns="0" rIns="0" tIns="0" bIns="0" anchor="t">
            <a:spAutoFit/>
          </a:bodyPr>
          <a:lstStyle/>
          <a:p>
            <a:pPr algn="l">
              <a:lnSpc>
                <a:spcPct val="105000"/>
              </a:lnSpc>
              <a:spcAft>
                <a:spcPts val="0"/>
              </a:spcAft>
            </a:pPr>
            <a:r>
              <a:rPr sz="1650" b="1">
                <a:solidFill>
                  <a:srgbClr val="0F172A"/>
                </a:solidFill>
                <a:latin typeface="Helvetica Neue"/>
              </a:rPr>
              <a:t>Private investors</a:t>
            </a:r>
          </a:p>
        </p:txBody>
      </p:sp>
      <p:sp>
        <p:nvSpPr>
          <p:cNvPr id="23" name="TextBox 22"/>
          <p:cNvSpPr txBox="1"/>
          <p:nvPr/>
        </p:nvSpPr>
        <p:spPr>
          <a:xfrm>
            <a:off x="9722815" y="3831991"/>
            <a:ext cx="1463040" cy="171196"/>
          </a:xfrm>
          <a:prstGeom prst="rect">
            <a:avLst/>
          </a:prstGeom>
          <a:noFill/>
        </p:spPr>
        <p:txBody>
          <a:bodyPr wrap="square" lIns="0" rIns="0" tIns="0" bIns="0" anchor="t">
            <a:spAutoFit/>
          </a:bodyPr>
          <a:lstStyle/>
          <a:p>
            <a:pPr algn="r">
              <a:lnSpc>
                <a:spcPct val="100000"/>
              </a:lnSpc>
              <a:spcAft>
                <a:spcPts val="0"/>
              </a:spcAft>
            </a:pPr>
            <a:r>
              <a:rPr sz="1000" b="1">
                <a:solidFill>
                  <a:srgbClr val="C2410C"/>
                </a:solidFill>
                <a:latin typeface="Helvetica Neue"/>
              </a:rPr>
              <a:t>INDIVIDUAL TIER</a:t>
            </a:r>
          </a:p>
        </p:txBody>
      </p:sp>
      <p:sp>
        <p:nvSpPr>
          <p:cNvPr id="24" name="TextBox 23"/>
          <p:cNvSpPr txBox="1"/>
          <p:nvPr/>
        </p:nvSpPr>
        <p:spPr>
          <a:xfrm>
            <a:off x="6553047" y="4161175"/>
            <a:ext cx="4632807" cy="642366"/>
          </a:xfrm>
          <a:prstGeom prst="rect">
            <a:avLst/>
          </a:prstGeom>
          <a:noFill/>
        </p:spPr>
        <p:txBody>
          <a:bodyPr wrap="square" lIns="0" rIns="0" tIns="0" bIns="0" anchor="t">
            <a:spAutoFit/>
          </a:bodyPr>
          <a:lstStyle/>
          <a:p>
            <a:pPr algn="l">
              <a:lnSpc>
                <a:spcPct val="125000"/>
              </a:lnSpc>
              <a:spcAft>
                <a:spcPts val="0"/>
              </a:spcAft>
            </a:pPr>
            <a:r>
              <a:rPr sz="1200" b="0">
                <a:solidFill>
                  <a:srgbClr val="334155"/>
                </a:solidFill>
                <a:latin typeface="Helvetica Neue"/>
              </a:rPr>
              <a:t>Serious individuals and family offices. The same company facts the professionals have, at a price one person can pay without asking anyone.</a:t>
            </a:r>
          </a:p>
        </p:txBody>
      </p:sp>
      <p:sp>
        <p:nvSpPr>
          <p:cNvPr id="25" name="TextBox 24"/>
          <p:cNvSpPr txBox="1"/>
          <p:nvPr/>
        </p:nvSpPr>
        <p:spPr>
          <a:xfrm>
            <a:off x="731520" y="5386471"/>
            <a:ext cx="10728655" cy="692848"/>
          </a:xfrm>
          <a:prstGeom prst="rect">
            <a:avLst/>
          </a:prstGeom>
          <a:noFill/>
        </p:spPr>
        <p:txBody>
          <a:bodyPr wrap="square" lIns="0" rIns="0" tIns="0" bIns="0" anchor="t">
            <a:spAutoFit/>
          </a:bodyPr>
          <a:lstStyle/>
          <a:p>
            <a:pPr algn="l">
              <a:lnSpc>
                <a:spcPct val="130000"/>
              </a:lnSpc>
              <a:spcAft>
                <a:spcPts val="0"/>
              </a:spcAft>
            </a:pPr>
            <a:r>
              <a:rPr sz="1250" b="1">
                <a:solidFill>
                  <a:srgbClr val="0F172A"/>
                </a:solidFill>
                <a:latin typeface="Helvetica Neue"/>
              </a:rPr>
              <a:t>Free </a:t>
            </a:r>
            <a:r>
              <a:rPr sz="1250" b="0">
                <a:solidFill>
                  <a:srgbClr val="334155"/>
                </a:solidFill>
                <a:latin typeface="Helvetica Neue"/>
              </a:rPr>
              <a:t>is the website and citable links. </a:t>
            </a:r>
            <a:r>
              <a:rPr sz="1250" b="1">
                <a:solidFill>
                  <a:srgbClr val="0F172A"/>
                </a:solidFill>
                <a:latin typeface="Helvetica Neue"/>
              </a:rPr>
              <a:t>Individual </a:t>
            </a:r>
            <a:r>
              <a:rPr sz="1250" b="0">
                <a:solidFill>
                  <a:srgbClr val="334155"/>
                </a:solidFill>
                <a:latin typeface="Helvetica Neue"/>
              </a:rPr>
              <a:t>adds a coverage list, alerts, API and AI access, and specialists. </a:t>
            </a:r>
            <a:r>
              <a:rPr sz="1250" b="1">
                <a:solidFill>
                  <a:srgbClr val="0F172A"/>
                </a:solidFill>
                <a:latin typeface="Helvetica Neue"/>
              </a:rPr>
              <a:t>Firm </a:t>
            </a:r>
            <a:r>
              <a:rPr sz="1250" b="0">
                <a:solidFill>
                  <a:srgbClr val="334155"/>
                </a:solidFill>
                <a:latin typeface="Helvetica Neue"/>
              </a:rPr>
              <a:t>adds shared desks, an audit trail, a licence and someone to call. Prices come after the first customers have told us what they will pay.</a:t>
            </a:r>
          </a:p>
        </p:txBody>
      </p:sp>
      <p:sp>
        <p:nvSpPr>
          <p:cNvPr id="26" name="TextBox 25"/>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WHO USES IT</a:t>
            </a:r>
          </a:p>
        </p:txBody>
      </p:sp>
      <p:sp>
        <p:nvSpPr>
          <p:cNvPr id="27" name="TextBox 26"/>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Why it holds</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Everything we ingest is free and public, so the first question in every meeting is why a customer cannot just do it themselves. Three answers.</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56887"/>
            <a:ext cx="3393338" cy="237744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56887"/>
            <a:ext cx="3393338" cy="38404"/>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131207"/>
            <a:ext cx="2881274" cy="501822"/>
          </a:xfrm>
          <a:prstGeom prst="rect">
            <a:avLst/>
          </a:prstGeom>
          <a:noFill/>
        </p:spPr>
        <p:txBody>
          <a:bodyPr wrap="square" lIns="0" rIns="0" tIns="0" bIns="0" anchor="t">
            <a:spAutoFit/>
          </a:bodyPr>
          <a:lstStyle/>
          <a:p>
            <a:pPr algn="l">
              <a:lnSpc>
                <a:spcPct val="108000"/>
              </a:lnSpc>
              <a:spcAft>
                <a:spcPts val="0"/>
              </a:spcAft>
            </a:pPr>
            <a:r>
              <a:rPr sz="1600" b="1">
                <a:solidFill>
                  <a:srgbClr val="0F172A"/>
                </a:solidFill>
                <a:latin typeface="Helvetica Neue"/>
              </a:rPr>
              <a:t>The history we have already recorded</a:t>
            </a:r>
          </a:p>
        </p:txBody>
      </p:sp>
      <p:sp>
        <p:nvSpPr>
          <p:cNvPr id="8" name="TextBox 7"/>
          <p:cNvSpPr txBox="1"/>
          <p:nvPr/>
        </p:nvSpPr>
        <p:spPr>
          <a:xfrm>
            <a:off x="987552" y="2789575"/>
            <a:ext cx="2881274" cy="1113536"/>
          </a:xfrm>
          <a:prstGeom prst="rect">
            <a:avLst/>
          </a:prstGeom>
          <a:noFill/>
        </p:spPr>
        <p:txBody>
          <a:bodyPr wrap="square" lIns="0" rIns="0" tIns="0" bIns="0" anchor="t">
            <a:spAutoFit/>
          </a:bodyPr>
          <a:lstStyle/>
          <a:p>
            <a:pPr algn="l">
              <a:lnSpc>
                <a:spcPct val="128000"/>
              </a:lnSpc>
              <a:spcAft>
                <a:spcPts val="0"/>
              </a:spcAft>
            </a:pPr>
            <a:r>
              <a:rPr sz="1250" b="0">
                <a:solidFill>
                  <a:srgbClr val="334155"/>
                </a:solidFill>
                <a:latin typeface="Helvetica Neue"/>
              </a:rPr>
              <a:t>Millions of stored versions of numbers that have since been revised. Nobody can go back and collect those, and the gap grows every month we keep running.</a:t>
            </a:r>
          </a:p>
        </p:txBody>
      </p:sp>
      <p:sp>
        <p:nvSpPr>
          <p:cNvPr id="9" name="Rectangle 8"/>
          <p:cNvSpPr/>
          <p:nvPr/>
        </p:nvSpPr>
        <p:spPr>
          <a:xfrm>
            <a:off x="4399178" y="1856887"/>
            <a:ext cx="3393338" cy="237744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99178" y="1856887"/>
            <a:ext cx="3393338" cy="38404"/>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5210" y="2131207"/>
            <a:ext cx="2881274" cy="501822"/>
          </a:xfrm>
          <a:prstGeom prst="rect">
            <a:avLst/>
          </a:prstGeom>
          <a:noFill/>
        </p:spPr>
        <p:txBody>
          <a:bodyPr wrap="square" lIns="0" rIns="0" tIns="0" bIns="0" anchor="t">
            <a:spAutoFit/>
          </a:bodyPr>
          <a:lstStyle/>
          <a:p>
            <a:pPr algn="l">
              <a:lnSpc>
                <a:spcPct val="108000"/>
              </a:lnSpc>
              <a:spcAft>
                <a:spcPts val="0"/>
              </a:spcAft>
            </a:pPr>
            <a:r>
              <a:rPr sz="1600" b="1">
                <a:solidFill>
                  <a:srgbClr val="0F172A"/>
                </a:solidFill>
                <a:latin typeface="Helvetica Neue"/>
              </a:rPr>
              <a:t>The detail underneath the headline</a:t>
            </a:r>
          </a:p>
        </p:txBody>
      </p:sp>
      <p:sp>
        <p:nvSpPr>
          <p:cNvPr id="12" name="TextBox 11"/>
          <p:cNvSpPr txBox="1"/>
          <p:nvPr/>
        </p:nvSpPr>
        <p:spPr>
          <a:xfrm>
            <a:off x="4655210" y="2789575"/>
            <a:ext cx="2881274" cy="898144"/>
          </a:xfrm>
          <a:prstGeom prst="rect">
            <a:avLst/>
          </a:prstGeom>
          <a:noFill/>
        </p:spPr>
        <p:txBody>
          <a:bodyPr wrap="square" lIns="0" rIns="0" tIns="0" bIns="0" anchor="t">
            <a:spAutoFit/>
          </a:bodyPr>
          <a:lstStyle/>
          <a:p>
            <a:pPr algn="l">
              <a:lnSpc>
                <a:spcPct val="128000"/>
              </a:lnSpc>
              <a:spcAft>
                <a:spcPts val="0"/>
              </a:spcAft>
            </a:pPr>
            <a:r>
              <a:rPr sz="1250" b="0">
                <a:solidFill>
                  <a:srgbClr val="334155"/>
                </a:solidFill>
                <a:latin typeface="Helvetica Neue"/>
              </a:rPr>
              <a:t>Individual item prices, shareholdings with the reason given, named customers, board ages, vote results. Terminals stop at the top line.</a:t>
            </a:r>
          </a:p>
        </p:txBody>
      </p:sp>
      <p:sp>
        <p:nvSpPr>
          <p:cNvPr id="13" name="Rectangle 12"/>
          <p:cNvSpPr/>
          <p:nvPr/>
        </p:nvSpPr>
        <p:spPr>
          <a:xfrm>
            <a:off x="8066836" y="1856887"/>
            <a:ext cx="3393338" cy="237744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6836" y="1856887"/>
            <a:ext cx="3393338" cy="3840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2868" y="2131207"/>
            <a:ext cx="2881274" cy="501822"/>
          </a:xfrm>
          <a:prstGeom prst="rect">
            <a:avLst/>
          </a:prstGeom>
          <a:noFill/>
        </p:spPr>
        <p:txBody>
          <a:bodyPr wrap="square" lIns="0" rIns="0" tIns="0" bIns="0" anchor="t">
            <a:spAutoFit/>
          </a:bodyPr>
          <a:lstStyle/>
          <a:p>
            <a:pPr algn="l">
              <a:lnSpc>
                <a:spcPct val="108000"/>
              </a:lnSpc>
              <a:spcAft>
                <a:spcPts val="0"/>
              </a:spcAft>
            </a:pPr>
            <a:r>
              <a:rPr sz="1600" b="1">
                <a:solidFill>
                  <a:srgbClr val="0F172A"/>
                </a:solidFill>
                <a:latin typeface="Helvetica Neue"/>
              </a:rPr>
              <a:t>It is cheaper than building it</a:t>
            </a:r>
          </a:p>
        </p:txBody>
      </p:sp>
      <p:sp>
        <p:nvSpPr>
          <p:cNvPr id="16" name="TextBox 15"/>
          <p:cNvSpPr txBox="1"/>
          <p:nvPr/>
        </p:nvSpPr>
        <p:spPr>
          <a:xfrm>
            <a:off x="8322868" y="2789575"/>
            <a:ext cx="2881274" cy="1113536"/>
          </a:xfrm>
          <a:prstGeom prst="rect">
            <a:avLst/>
          </a:prstGeom>
          <a:noFill/>
        </p:spPr>
        <p:txBody>
          <a:bodyPr wrap="square" lIns="0" rIns="0" tIns="0" bIns="0" anchor="t">
            <a:spAutoFit/>
          </a:bodyPr>
          <a:lstStyle/>
          <a:p>
            <a:pPr algn="l">
              <a:lnSpc>
                <a:spcPct val="128000"/>
              </a:lnSpc>
              <a:spcAft>
                <a:spcPts val="0"/>
              </a:spcAft>
            </a:pPr>
            <a:r>
              <a:rPr sz="1250" b="0">
                <a:solidFill>
                  <a:srgbClr val="334155"/>
                </a:solidFill>
                <a:latin typeface="Helvetica Neue"/>
              </a:rPr>
              <a:t>A bank could rebuild this with a team in a year, then lose it when that team moves on. We cost less than the build, every year, and we keep going.</a:t>
            </a:r>
          </a:p>
        </p:txBody>
      </p:sp>
      <p:sp>
        <p:nvSpPr>
          <p:cNvPr id="17" name="TextBox 16"/>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DEFENSIBILITY</a:t>
            </a:r>
          </a:p>
        </p:txBody>
      </p:sp>
      <p:sp>
        <p:nvSpPr>
          <p:cNvPr id="18" name="TextBox 17"/>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Where we are</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What is running today, and what is not. Japan Data Observatory is the first deployment, built by two of us and in production since August 2026.</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56887"/>
            <a:ext cx="3393338" cy="177927"/>
          </a:xfrm>
          <a:prstGeom prst="rect">
            <a:avLst/>
          </a:prstGeom>
          <a:noFill/>
        </p:spPr>
        <p:txBody>
          <a:bodyPr wrap="square" lIns="0" rIns="0" tIns="0" bIns="0" anchor="t">
            <a:spAutoFit/>
          </a:bodyPr>
          <a:lstStyle/>
          <a:p>
            <a:pPr algn="l">
              <a:lnSpc>
                <a:spcPct val="100000"/>
              </a:lnSpc>
              <a:spcAft>
                <a:spcPts val="0"/>
              </a:spcAft>
            </a:pPr>
            <a:r>
              <a:rPr sz="1050" b="1">
                <a:solidFill>
                  <a:srgbClr val="15803D"/>
                </a:solidFill>
                <a:latin typeface="Helvetica Neue"/>
              </a:rPr>
              <a:t>WORKING NOW</a:t>
            </a:r>
          </a:p>
        </p:txBody>
      </p:sp>
      <p:sp>
        <p:nvSpPr>
          <p:cNvPr id="6" name="Rectangle 5"/>
          <p:cNvSpPr/>
          <p:nvPr/>
        </p:nvSpPr>
        <p:spPr>
          <a:xfrm>
            <a:off x="731520" y="2094631"/>
            <a:ext cx="457200" cy="25603"/>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295799"/>
            <a:ext cx="3393338" cy="480014"/>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The ingest runs without anyone watching it</a:t>
            </a:r>
          </a:p>
        </p:txBody>
      </p:sp>
      <p:sp>
        <p:nvSpPr>
          <p:cNvPr id="8" name="TextBox 7"/>
          <p:cNvSpPr txBox="1"/>
          <p:nvPr/>
        </p:nvSpPr>
        <p:spPr>
          <a:xfrm>
            <a:off x="731520" y="2922117"/>
            <a:ext cx="3393338" cy="258295"/>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A public API and website</a:t>
            </a:r>
          </a:p>
        </p:txBody>
      </p:sp>
      <p:sp>
        <p:nvSpPr>
          <p:cNvPr id="9" name="TextBox 8"/>
          <p:cNvSpPr txBox="1"/>
          <p:nvPr/>
        </p:nvSpPr>
        <p:spPr>
          <a:xfrm>
            <a:off x="731520" y="3326716"/>
            <a:ext cx="3393338" cy="258295"/>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The MCP server, live and connectable</a:t>
            </a:r>
          </a:p>
        </p:txBody>
      </p:sp>
      <p:sp>
        <p:nvSpPr>
          <p:cNvPr id="10" name="TextBox 9"/>
          <p:cNvSpPr txBox="1"/>
          <p:nvPr/>
        </p:nvSpPr>
        <p:spPr>
          <a:xfrm>
            <a:off x="731520" y="3731315"/>
            <a:ext cx="3393338" cy="480014"/>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Every listed company, six years of filings</a:t>
            </a:r>
          </a:p>
        </p:txBody>
      </p:sp>
      <p:sp>
        <p:nvSpPr>
          <p:cNvPr id="11" name="TextBox 10"/>
          <p:cNvSpPr txBox="1"/>
          <p:nvPr/>
        </p:nvSpPr>
        <p:spPr>
          <a:xfrm>
            <a:off x="4399178" y="1856887"/>
            <a:ext cx="3393338" cy="177927"/>
          </a:xfrm>
          <a:prstGeom prst="rect">
            <a:avLst/>
          </a:prstGeom>
          <a:noFill/>
        </p:spPr>
        <p:txBody>
          <a:bodyPr wrap="square" lIns="0" rIns="0" tIns="0" bIns="0" anchor="t">
            <a:spAutoFit/>
          </a:bodyPr>
          <a:lstStyle/>
          <a:p>
            <a:pPr algn="l">
              <a:lnSpc>
                <a:spcPct val="100000"/>
              </a:lnSpc>
              <a:spcAft>
                <a:spcPts val="0"/>
              </a:spcAft>
            </a:pPr>
            <a:r>
              <a:rPr sz="1050" b="1">
                <a:solidFill>
                  <a:srgbClr val="1A4D8F"/>
                </a:solidFill>
                <a:latin typeface="Helvetica Neue"/>
              </a:rPr>
              <a:t>BEING BUILT</a:t>
            </a:r>
          </a:p>
        </p:txBody>
      </p:sp>
      <p:sp>
        <p:nvSpPr>
          <p:cNvPr id="12" name="Rectangle 11"/>
          <p:cNvSpPr/>
          <p:nvPr/>
        </p:nvSpPr>
        <p:spPr>
          <a:xfrm>
            <a:off x="4399178" y="2094631"/>
            <a:ext cx="457200" cy="25603"/>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9178" y="2295799"/>
            <a:ext cx="3393338" cy="258295"/>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The specialists and the runner</a:t>
            </a:r>
          </a:p>
        </p:txBody>
      </p:sp>
      <p:sp>
        <p:nvSpPr>
          <p:cNvPr id="14" name="TextBox 13"/>
          <p:cNvSpPr txBox="1"/>
          <p:nvPr/>
        </p:nvSpPr>
        <p:spPr>
          <a:xfrm>
            <a:off x="4399178" y="2700398"/>
            <a:ext cx="3393338" cy="258295"/>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Accounts, keys and the desk</a:t>
            </a:r>
          </a:p>
        </p:txBody>
      </p:sp>
      <p:sp>
        <p:nvSpPr>
          <p:cNvPr id="15" name="TextBox 14"/>
          <p:cNvSpPr txBox="1"/>
          <p:nvPr/>
        </p:nvSpPr>
        <p:spPr>
          <a:xfrm>
            <a:off x="4399178" y="3104997"/>
            <a:ext cx="3393338" cy="258295"/>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Approvals and delivery</a:t>
            </a:r>
          </a:p>
        </p:txBody>
      </p:sp>
      <p:sp>
        <p:nvSpPr>
          <p:cNvPr id="16" name="TextBox 15"/>
          <p:cNvSpPr txBox="1"/>
          <p:nvPr/>
        </p:nvSpPr>
        <p:spPr>
          <a:xfrm>
            <a:off x="8066836" y="1856887"/>
            <a:ext cx="3393338" cy="177927"/>
          </a:xfrm>
          <a:prstGeom prst="rect">
            <a:avLst/>
          </a:prstGeom>
          <a:noFill/>
        </p:spPr>
        <p:txBody>
          <a:bodyPr wrap="square" lIns="0" rIns="0" tIns="0" bIns="0" anchor="t">
            <a:spAutoFit/>
          </a:bodyPr>
          <a:lstStyle/>
          <a:p>
            <a:pPr algn="l">
              <a:lnSpc>
                <a:spcPct val="100000"/>
              </a:lnSpc>
              <a:spcAft>
                <a:spcPts val="0"/>
              </a:spcAft>
            </a:pPr>
            <a:r>
              <a:rPr sz="1050" b="1">
                <a:solidFill>
                  <a:srgbClr val="C2410C"/>
                </a:solidFill>
                <a:latin typeface="Helvetica Neue"/>
              </a:rPr>
              <a:t>NOT THERE YET</a:t>
            </a:r>
          </a:p>
        </p:txBody>
      </p:sp>
      <p:sp>
        <p:nvSpPr>
          <p:cNvPr id="17" name="Rectangle 16"/>
          <p:cNvSpPr/>
          <p:nvPr/>
        </p:nvSpPr>
        <p:spPr>
          <a:xfrm>
            <a:off x="8066836" y="2094631"/>
            <a:ext cx="457200" cy="25603"/>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6836" y="2295799"/>
            <a:ext cx="3393338" cy="258295"/>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Nobody is paying us yet</a:t>
            </a:r>
          </a:p>
        </p:txBody>
      </p:sp>
      <p:sp>
        <p:nvSpPr>
          <p:cNvPr id="19" name="TextBox 18"/>
          <p:cNvSpPr txBox="1"/>
          <p:nvPr/>
        </p:nvSpPr>
        <p:spPr>
          <a:xfrm>
            <a:off x="8066836" y="2700398"/>
            <a:ext cx="3393338" cy="258295"/>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No signed pilots</a:t>
            </a:r>
          </a:p>
        </p:txBody>
      </p:sp>
      <p:sp>
        <p:nvSpPr>
          <p:cNvPr id="20" name="TextBox 19"/>
          <p:cNvSpPr txBox="1"/>
          <p:nvPr/>
        </p:nvSpPr>
        <p:spPr>
          <a:xfrm>
            <a:off x="8066836" y="3104997"/>
            <a:ext cx="3393338" cy="258295"/>
          </a:xfrm>
          <a:prstGeom prst="rect">
            <a:avLst/>
          </a:prstGeom>
          <a:noFill/>
        </p:spPr>
        <p:txBody>
          <a:bodyPr wrap="square" lIns="0" rIns="0" tIns="0" bIns="0" anchor="t">
            <a:spAutoFit/>
          </a:bodyPr>
          <a:lstStyle/>
          <a:p>
            <a:pPr algn="l">
              <a:lnSpc>
                <a:spcPct val="122000"/>
              </a:lnSpc>
              <a:spcAft>
                <a:spcPts val="0"/>
              </a:spcAft>
            </a:pPr>
            <a:r>
              <a:rPr sz="1350" b="0">
                <a:solidFill>
                  <a:srgbClr val="334155"/>
                </a:solidFill>
                <a:latin typeface="Helvetica Neue"/>
              </a:rPr>
              <a:t>First revenue is the next milestone</a:t>
            </a:r>
          </a:p>
        </p:txBody>
      </p:sp>
      <p:sp>
        <p:nvSpPr>
          <p:cNvPr id="21" name="TextBox 20"/>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WHERE WE ARE</a:t>
            </a:r>
          </a:p>
        </p:txBody>
      </p:sp>
      <p:sp>
        <p:nvSpPr>
          <p:cNvPr id="22" name="TextBox 21"/>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What happens next</a:t>
            </a:r>
          </a:p>
        </p:txBody>
      </p:sp>
      <p:sp>
        <p:nvSpPr>
          <p:cNvPr id="3" name="TextBox 2"/>
          <p:cNvSpPr txBox="1"/>
          <p:nvPr/>
        </p:nvSpPr>
        <p:spPr>
          <a:xfrm>
            <a:off x="731520" y="1007363"/>
            <a:ext cx="9977649" cy="46547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Get someone paying before adding another country. The first firm that pays us will teach us more than the next ten datasets would.</a:t>
            </a:r>
          </a:p>
        </p:txBody>
      </p:sp>
      <p:sp>
        <p:nvSpPr>
          <p:cNvPr id="4" name="Rectangle 3"/>
          <p:cNvSpPr/>
          <p:nvPr/>
        </p:nvSpPr>
        <p:spPr>
          <a:xfrm>
            <a:off x="731520" y="160085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56887"/>
            <a:ext cx="3362858" cy="283464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56887"/>
            <a:ext cx="3362858" cy="38404"/>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2131207"/>
            <a:ext cx="2887370" cy="157734"/>
          </a:xfrm>
          <a:prstGeom prst="rect">
            <a:avLst/>
          </a:prstGeom>
          <a:noFill/>
        </p:spPr>
        <p:txBody>
          <a:bodyPr wrap="square" lIns="0" rIns="0" tIns="0" bIns="0" anchor="t">
            <a:spAutoFit/>
          </a:bodyPr>
          <a:lstStyle/>
          <a:p>
            <a:pPr algn="l">
              <a:lnSpc>
                <a:spcPct val="100000"/>
              </a:lnSpc>
              <a:spcAft>
                <a:spcPts val="0"/>
              </a:spcAft>
            </a:pPr>
            <a:r>
              <a:rPr sz="900" b="1">
                <a:solidFill>
                  <a:srgbClr val="1A4D8F"/>
                </a:solidFill>
                <a:latin typeface="Helvetica Neue"/>
              </a:rPr>
              <a:t>NOW TO END OF 2026</a:t>
            </a:r>
          </a:p>
        </p:txBody>
      </p:sp>
      <p:sp>
        <p:nvSpPr>
          <p:cNvPr id="8" name="TextBox 7"/>
          <p:cNvSpPr txBox="1"/>
          <p:nvPr/>
        </p:nvSpPr>
        <p:spPr>
          <a:xfrm>
            <a:off x="969264" y="2380381"/>
            <a:ext cx="2887370" cy="262737"/>
          </a:xfrm>
          <a:prstGeom prst="rect">
            <a:avLst/>
          </a:prstGeom>
          <a:noFill/>
        </p:spPr>
        <p:txBody>
          <a:bodyPr wrap="square" lIns="0" rIns="0" tIns="0" bIns="0" anchor="t">
            <a:spAutoFit/>
          </a:bodyPr>
          <a:lstStyle/>
          <a:p>
            <a:pPr algn="l">
              <a:lnSpc>
                <a:spcPct val="105000"/>
              </a:lnSpc>
              <a:spcAft>
                <a:spcPts val="0"/>
              </a:spcAft>
            </a:pPr>
            <a:r>
              <a:rPr sz="1600" b="1">
                <a:solidFill>
                  <a:srgbClr val="0F172A"/>
                </a:solidFill>
                <a:latin typeface="Helvetica Neue"/>
              </a:rPr>
              <a:t>Find out if people pay</a:t>
            </a:r>
          </a:p>
        </p:txBody>
      </p:sp>
      <p:sp>
        <p:nvSpPr>
          <p:cNvPr id="9" name="TextBox 8"/>
          <p:cNvSpPr txBox="1"/>
          <p:nvPr/>
        </p:nvSpPr>
        <p:spPr>
          <a:xfrm>
            <a:off x="969264" y="2825998"/>
            <a:ext cx="2887370" cy="246919"/>
          </a:xfrm>
          <a:prstGeom prst="rect">
            <a:avLst/>
          </a:prstGeom>
          <a:noFill/>
        </p:spPr>
        <p:txBody>
          <a:bodyPr wrap="square" lIns="0" rIns="0" tIns="0" bIns="0" anchor="t">
            <a:spAutoFit/>
          </a:bodyPr>
          <a:lstStyle/>
          <a:p>
            <a:pPr algn="l">
              <a:lnSpc>
                <a:spcPct val="125000"/>
              </a:lnSpc>
              <a:spcAft>
                <a:spcPts val="0"/>
              </a:spcAft>
            </a:pPr>
            <a:r>
              <a:rPr sz="1250" b="0">
                <a:solidFill>
                  <a:srgbClr val="334155"/>
                </a:solidFill>
                <a:latin typeface="Helvetica Neue"/>
              </a:rPr>
              <a:t>Accounts, keys and the desk</a:t>
            </a:r>
          </a:p>
        </p:txBody>
      </p:sp>
      <p:sp>
        <p:nvSpPr>
          <p:cNvPr id="10" name="TextBox 9"/>
          <p:cNvSpPr txBox="1"/>
          <p:nvPr/>
        </p:nvSpPr>
        <p:spPr>
          <a:xfrm>
            <a:off x="969264" y="3255798"/>
            <a:ext cx="2887370" cy="246919"/>
          </a:xfrm>
          <a:prstGeom prst="rect">
            <a:avLst/>
          </a:prstGeom>
          <a:noFill/>
        </p:spPr>
        <p:txBody>
          <a:bodyPr wrap="square" lIns="0" rIns="0" tIns="0" bIns="0" anchor="t">
            <a:spAutoFit/>
          </a:bodyPr>
          <a:lstStyle/>
          <a:p>
            <a:pPr algn="l">
              <a:lnSpc>
                <a:spcPct val="125000"/>
              </a:lnSpc>
              <a:spcAft>
                <a:spcPts val="0"/>
              </a:spcAft>
            </a:pPr>
            <a:r>
              <a:rPr sz="1250" b="0">
                <a:solidFill>
                  <a:srgbClr val="334155"/>
                </a:solidFill>
                <a:latin typeface="Helvetica Neue"/>
              </a:rPr>
              <a:t>Two specialists running for real</a:t>
            </a:r>
          </a:p>
        </p:txBody>
      </p:sp>
      <p:sp>
        <p:nvSpPr>
          <p:cNvPr id="11" name="TextBox 10"/>
          <p:cNvSpPr txBox="1"/>
          <p:nvPr/>
        </p:nvSpPr>
        <p:spPr>
          <a:xfrm>
            <a:off x="969264" y="3685598"/>
            <a:ext cx="2887370" cy="246919"/>
          </a:xfrm>
          <a:prstGeom prst="rect">
            <a:avLst/>
          </a:prstGeom>
          <a:noFill/>
        </p:spPr>
        <p:txBody>
          <a:bodyPr wrap="square" lIns="0" rIns="0" tIns="0" bIns="0" anchor="t">
            <a:spAutoFit/>
          </a:bodyPr>
          <a:lstStyle/>
          <a:p>
            <a:pPr algn="l">
              <a:lnSpc>
                <a:spcPct val="125000"/>
              </a:lnSpc>
              <a:spcAft>
                <a:spcPts val="0"/>
              </a:spcAft>
            </a:pPr>
            <a:r>
              <a:rPr sz="1250" b="0">
                <a:solidFill>
                  <a:srgbClr val="334155"/>
                </a:solidFill>
                <a:latin typeface="Helvetica Neue"/>
              </a:rPr>
              <a:t>Approvals and the morning email</a:t>
            </a:r>
          </a:p>
        </p:txBody>
      </p:sp>
      <p:sp>
        <p:nvSpPr>
          <p:cNvPr id="12" name="TextBox 11"/>
          <p:cNvSpPr txBox="1"/>
          <p:nvPr/>
        </p:nvSpPr>
        <p:spPr>
          <a:xfrm>
            <a:off x="969264" y="4115398"/>
            <a:ext cx="2887370" cy="246919"/>
          </a:xfrm>
          <a:prstGeom prst="rect">
            <a:avLst/>
          </a:prstGeom>
          <a:noFill/>
        </p:spPr>
        <p:txBody>
          <a:bodyPr wrap="square" lIns="0" rIns="0" tIns="0" bIns="0" anchor="t">
            <a:spAutoFit/>
          </a:bodyPr>
          <a:lstStyle/>
          <a:p>
            <a:pPr algn="l">
              <a:lnSpc>
                <a:spcPct val="125000"/>
              </a:lnSpc>
              <a:spcAft>
                <a:spcPts val="0"/>
              </a:spcAft>
            </a:pPr>
            <a:r>
              <a:rPr sz="1250" b="1">
                <a:solidFill>
                  <a:srgbClr val="0F172A"/>
                </a:solidFill>
                <a:latin typeface="Helvetica Neue"/>
              </a:rPr>
              <a:t>Aim: three people paying</a:t>
            </a:r>
          </a:p>
        </p:txBody>
      </p:sp>
      <p:sp>
        <p:nvSpPr>
          <p:cNvPr id="13" name="Rectangle 12"/>
          <p:cNvSpPr/>
          <p:nvPr/>
        </p:nvSpPr>
        <p:spPr>
          <a:xfrm>
            <a:off x="4414418" y="1856887"/>
            <a:ext cx="3362858" cy="283464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4418" y="1856887"/>
            <a:ext cx="3362858" cy="38404"/>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2162" y="2131207"/>
            <a:ext cx="2887370" cy="157734"/>
          </a:xfrm>
          <a:prstGeom prst="rect">
            <a:avLst/>
          </a:prstGeom>
          <a:noFill/>
        </p:spPr>
        <p:txBody>
          <a:bodyPr wrap="square" lIns="0" rIns="0" tIns="0" bIns="0" anchor="t">
            <a:spAutoFit/>
          </a:bodyPr>
          <a:lstStyle/>
          <a:p>
            <a:pPr algn="l">
              <a:lnSpc>
                <a:spcPct val="100000"/>
              </a:lnSpc>
              <a:spcAft>
                <a:spcPts val="0"/>
              </a:spcAft>
            </a:pPr>
            <a:r>
              <a:rPr sz="900" b="1">
                <a:solidFill>
                  <a:srgbClr val="1A4D8F"/>
                </a:solidFill>
                <a:latin typeface="Helvetica Neue"/>
              </a:rPr>
              <a:t>FIRST HALF OF 2027</a:t>
            </a:r>
          </a:p>
        </p:txBody>
      </p:sp>
      <p:sp>
        <p:nvSpPr>
          <p:cNvPr id="16" name="TextBox 15"/>
          <p:cNvSpPr txBox="1"/>
          <p:nvPr/>
        </p:nvSpPr>
        <p:spPr>
          <a:xfrm>
            <a:off x="4652162" y="2380381"/>
            <a:ext cx="2887370" cy="262737"/>
          </a:xfrm>
          <a:prstGeom prst="rect">
            <a:avLst/>
          </a:prstGeom>
          <a:noFill/>
        </p:spPr>
        <p:txBody>
          <a:bodyPr wrap="square" lIns="0" rIns="0" tIns="0" bIns="0" anchor="t">
            <a:spAutoFit/>
          </a:bodyPr>
          <a:lstStyle/>
          <a:p>
            <a:pPr algn="l">
              <a:lnSpc>
                <a:spcPct val="105000"/>
              </a:lnSpc>
              <a:spcAft>
                <a:spcPts val="0"/>
              </a:spcAft>
            </a:pPr>
            <a:r>
              <a:rPr sz="1600" b="1">
                <a:solidFill>
                  <a:srgbClr val="0F172A"/>
                </a:solidFill>
                <a:latin typeface="Helvetica Neue"/>
              </a:rPr>
              <a:t>Sign a firm</a:t>
            </a:r>
          </a:p>
        </p:txBody>
      </p:sp>
      <p:sp>
        <p:nvSpPr>
          <p:cNvPr id="17" name="TextBox 16"/>
          <p:cNvSpPr txBox="1"/>
          <p:nvPr/>
        </p:nvSpPr>
        <p:spPr>
          <a:xfrm>
            <a:off x="4652162" y="2825998"/>
            <a:ext cx="2887370" cy="246919"/>
          </a:xfrm>
          <a:prstGeom prst="rect">
            <a:avLst/>
          </a:prstGeom>
          <a:noFill/>
        </p:spPr>
        <p:txBody>
          <a:bodyPr wrap="square" lIns="0" rIns="0" tIns="0" bIns="0" anchor="t">
            <a:spAutoFit/>
          </a:bodyPr>
          <a:lstStyle/>
          <a:p>
            <a:pPr algn="l">
              <a:lnSpc>
                <a:spcPct val="125000"/>
              </a:lnSpc>
              <a:spcAft>
                <a:spcPts val="0"/>
              </a:spcAft>
            </a:pPr>
            <a:r>
              <a:rPr sz="1250" b="0">
                <a:solidFill>
                  <a:srgbClr val="334155"/>
                </a:solidFill>
                <a:latin typeface="Helvetica Neue"/>
              </a:rPr>
              <a:t>The full set of specialists</a:t>
            </a:r>
          </a:p>
        </p:txBody>
      </p:sp>
      <p:sp>
        <p:nvSpPr>
          <p:cNvPr id="18" name="TextBox 17"/>
          <p:cNvSpPr txBox="1"/>
          <p:nvPr/>
        </p:nvSpPr>
        <p:spPr>
          <a:xfrm>
            <a:off x="4652162" y="3255798"/>
            <a:ext cx="2887370" cy="246919"/>
          </a:xfrm>
          <a:prstGeom prst="rect">
            <a:avLst/>
          </a:prstGeom>
          <a:noFill/>
        </p:spPr>
        <p:txBody>
          <a:bodyPr wrap="square" lIns="0" rIns="0" tIns="0" bIns="0" anchor="t">
            <a:spAutoFit/>
          </a:bodyPr>
          <a:lstStyle/>
          <a:p>
            <a:pPr algn="l">
              <a:lnSpc>
                <a:spcPct val="125000"/>
              </a:lnSpc>
              <a:spcAft>
                <a:spcPts val="0"/>
              </a:spcAft>
            </a:pPr>
            <a:r>
              <a:rPr sz="1250" b="0">
                <a:solidFill>
                  <a:srgbClr val="334155"/>
                </a:solidFill>
                <a:latin typeface="Helvetica Neue"/>
              </a:rPr>
              <a:t>Shared desks and audit for teams</a:t>
            </a:r>
          </a:p>
        </p:txBody>
      </p:sp>
      <p:sp>
        <p:nvSpPr>
          <p:cNvPr id="19" name="TextBox 18"/>
          <p:cNvSpPr txBox="1"/>
          <p:nvPr/>
        </p:nvSpPr>
        <p:spPr>
          <a:xfrm>
            <a:off x="4652162" y="3685598"/>
            <a:ext cx="2887370" cy="246919"/>
          </a:xfrm>
          <a:prstGeom prst="rect">
            <a:avLst/>
          </a:prstGeom>
          <a:noFill/>
        </p:spPr>
        <p:txBody>
          <a:bodyPr wrap="square" lIns="0" rIns="0" tIns="0" bIns="0" anchor="t">
            <a:spAutoFit/>
          </a:bodyPr>
          <a:lstStyle/>
          <a:p>
            <a:pPr algn="l">
              <a:lnSpc>
                <a:spcPct val="125000"/>
              </a:lnSpc>
              <a:spcAft>
                <a:spcPts val="0"/>
              </a:spcAft>
            </a:pPr>
            <a:r>
              <a:rPr sz="1250" b="0">
                <a:solidFill>
                  <a:srgbClr val="334155"/>
                </a:solidFill>
                <a:latin typeface="Helvetica Neue"/>
              </a:rPr>
              <a:t>Licence wording and support</a:t>
            </a:r>
          </a:p>
        </p:txBody>
      </p:sp>
      <p:sp>
        <p:nvSpPr>
          <p:cNvPr id="20" name="TextBox 19"/>
          <p:cNvSpPr txBox="1"/>
          <p:nvPr/>
        </p:nvSpPr>
        <p:spPr>
          <a:xfrm>
            <a:off x="4652162" y="4115398"/>
            <a:ext cx="2887370" cy="246919"/>
          </a:xfrm>
          <a:prstGeom prst="rect">
            <a:avLst/>
          </a:prstGeom>
          <a:noFill/>
        </p:spPr>
        <p:txBody>
          <a:bodyPr wrap="square" lIns="0" rIns="0" tIns="0" bIns="0" anchor="t">
            <a:spAutoFit/>
          </a:bodyPr>
          <a:lstStyle/>
          <a:p>
            <a:pPr algn="l">
              <a:lnSpc>
                <a:spcPct val="125000"/>
              </a:lnSpc>
              <a:spcAft>
                <a:spcPts val="0"/>
              </a:spcAft>
            </a:pPr>
            <a:r>
              <a:rPr sz="1250" b="1">
                <a:solidFill>
                  <a:srgbClr val="0F172A"/>
                </a:solidFill>
                <a:latin typeface="Helvetica Neue"/>
              </a:rPr>
              <a:t>Aim: one firm signed</a:t>
            </a:r>
          </a:p>
        </p:txBody>
      </p:sp>
      <p:sp>
        <p:nvSpPr>
          <p:cNvPr id="21" name="Rectangle 20"/>
          <p:cNvSpPr/>
          <p:nvPr/>
        </p:nvSpPr>
        <p:spPr>
          <a:xfrm>
            <a:off x="8097316" y="1856887"/>
            <a:ext cx="3362858" cy="283464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7316" y="1856887"/>
            <a:ext cx="3362858" cy="3840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5060" y="2131207"/>
            <a:ext cx="2887370" cy="157734"/>
          </a:xfrm>
          <a:prstGeom prst="rect">
            <a:avLst/>
          </a:prstGeom>
          <a:noFill/>
        </p:spPr>
        <p:txBody>
          <a:bodyPr wrap="square" lIns="0" rIns="0" tIns="0" bIns="0" anchor="t">
            <a:spAutoFit/>
          </a:bodyPr>
          <a:lstStyle/>
          <a:p>
            <a:pPr algn="l">
              <a:lnSpc>
                <a:spcPct val="100000"/>
              </a:lnSpc>
              <a:spcAft>
                <a:spcPts val="0"/>
              </a:spcAft>
            </a:pPr>
            <a:r>
              <a:rPr sz="900" b="1">
                <a:solidFill>
                  <a:srgbClr val="C2410C"/>
                </a:solidFill>
                <a:latin typeface="Helvetica Neue"/>
              </a:rPr>
              <a:t>SECOND HALF OF 2027</a:t>
            </a:r>
          </a:p>
        </p:txBody>
      </p:sp>
      <p:sp>
        <p:nvSpPr>
          <p:cNvPr id="24" name="TextBox 23"/>
          <p:cNvSpPr txBox="1"/>
          <p:nvPr/>
        </p:nvSpPr>
        <p:spPr>
          <a:xfrm>
            <a:off x="8335060" y="2380381"/>
            <a:ext cx="2887370" cy="262737"/>
          </a:xfrm>
          <a:prstGeom prst="rect">
            <a:avLst/>
          </a:prstGeom>
          <a:noFill/>
        </p:spPr>
        <p:txBody>
          <a:bodyPr wrap="square" lIns="0" rIns="0" tIns="0" bIns="0" anchor="t">
            <a:spAutoFit/>
          </a:bodyPr>
          <a:lstStyle/>
          <a:p>
            <a:pPr algn="l">
              <a:lnSpc>
                <a:spcPct val="105000"/>
              </a:lnSpc>
              <a:spcAft>
                <a:spcPts val="0"/>
              </a:spcAft>
            </a:pPr>
            <a:r>
              <a:rPr sz="1600" b="1">
                <a:solidFill>
                  <a:srgbClr val="0F172A"/>
                </a:solidFill>
                <a:latin typeface="Helvetica Neue"/>
              </a:rPr>
              <a:t>Add a second market</a:t>
            </a:r>
          </a:p>
        </p:txBody>
      </p:sp>
      <p:sp>
        <p:nvSpPr>
          <p:cNvPr id="25" name="TextBox 24"/>
          <p:cNvSpPr txBox="1"/>
          <p:nvPr/>
        </p:nvSpPr>
        <p:spPr>
          <a:xfrm>
            <a:off x="8335060" y="2825998"/>
            <a:ext cx="2887370" cy="246919"/>
          </a:xfrm>
          <a:prstGeom prst="rect">
            <a:avLst/>
          </a:prstGeom>
          <a:noFill/>
        </p:spPr>
        <p:txBody>
          <a:bodyPr wrap="square" lIns="0" rIns="0" tIns="0" bIns="0" anchor="t">
            <a:spAutoFit/>
          </a:bodyPr>
          <a:lstStyle/>
          <a:p>
            <a:pPr algn="l">
              <a:lnSpc>
                <a:spcPct val="125000"/>
              </a:lnSpc>
              <a:spcAft>
                <a:spcPts val="0"/>
              </a:spcAft>
            </a:pPr>
            <a:r>
              <a:rPr sz="1250" b="0">
                <a:solidFill>
                  <a:srgbClr val="334155"/>
                </a:solidFill>
                <a:latin typeface="Helvetica Neue"/>
              </a:rPr>
              <a:t>Korea or Taiwan, same machinery</a:t>
            </a:r>
          </a:p>
        </p:txBody>
      </p:sp>
      <p:sp>
        <p:nvSpPr>
          <p:cNvPr id="26" name="TextBox 25"/>
          <p:cNvSpPr txBox="1"/>
          <p:nvPr/>
        </p:nvSpPr>
        <p:spPr>
          <a:xfrm>
            <a:off x="8335060" y="3255798"/>
            <a:ext cx="2887370" cy="457263"/>
          </a:xfrm>
          <a:prstGeom prst="rect">
            <a:avLst/>
          </a:prstGeom>
          <a:noFill/>
        </p:spPr>
        <p:txBody>
          <a:bodyPr wrap="square" lIns="0" rIns="0" tIns="0" bIns="0" anchor="t">
            <a:spAutoFit/>
          </a:bodyPr>
          <a:lstStyle/>
          <a:p>
            <a:pPr algn="l">
              <a:lnSpc>
                <a:spcPct val="125000"/>
              </a:lnSpc>
              <a:spcAft>
                <a:spcPts val="0"/>
              </a:spcAft>
            </a:pPr>
            <a:r>
              <a:rPr sz="1250" b="0">
                <a:solidFill>
                  <a:srgbClr val="334155"/>
                </a:solidFill>
                <a:latin typeface="Helvetica Neue"/>
              </a:rPr>
              <a:t>Ask for the data as it stood on any date</a:t>
            </a:r>
          </a:p>
        </p:txBody>
      </p:sp>
      <p:sp>
        <p:nvSpPr>
          <p:cNvPr id="27" name="TextBox 26"/>
          <p:cNvSpPr txBox="1"/>
          <p:nvPr/>
        </p:nvSpPr>
        <p:spPr>
          <a:xfrm>
            <a:off x="8335060" y="3895942"/>
            <a:ext cx="2887370" cy="246919"/>
          </a:xfrm>
          <a:prstGeom prst="rect">
            <a:avLst/>
          </a:prstGeom>
          <a:noFill/>
        </p:spPr>
        <p:txBody>
          <a:bodyPr wrap="square" lIns="0" rIns="0" tIns="0" bIns="0" anchor="t">
            <a:spAutoFit/>
          </a:bodyPr>
          <a:lstStyle/>
          <a:p>
            <a:pPr algn="l">
              <a:lnSpc>
                <a:spcPct val="125000"/>
              </a:lnSpc>
              <a:spcAft>
                <a:spcPts val="0"/>
              </a:spcAft>
            </a:pPr>
            <a:r>
              <a:rPr sz="1250" b="0">
                <a:solidFill>
                  <a:srgbClr val="334155"/>
                </a:solidFill>
                <a:latin typeface="Helvetica Neue"/>
              </a:rPr>
              <a:t>Distribution through partners</a:t>
            </a:r>
          </a:p>
        </p:txBody>
      </p:sp>
      <p:sp>
        <p:nvSpPr>
          <p:cNvPr id="28" name="TextBox 27"/>
          <p:cNvSpPr txBox="1"/>
          <p:nvPr/>
        </p:nvSpPr>
        <p:spPr>
          <a:xfrm>
            <a:off x="8335060" y="4325741"/>
            <a:ext cx="2887370" cy="246919"/>
          </a:xfrm>
          <a:prstGeom prst="rect">
            <a:avLst/>
          </a:prstGeom>
          <a:noFill/>
        </p:spPr>
        <p:txBody>
          <a:bodyPr wrap="square" lIns="0" rIns="0" tIns="0" bIns="0" anchor="t">
            <a:spAutoFit/>
          </a:bodyPr>
          <a:lstStyle/>
          <a:p>
            <a:pPr algn="l">
              <a:lnSpc>
                <a:spcPct val="125000"/>
              </a:lnSpc>
              <a:spcAft>
                <a:spcPts val="0"/>
              </a:spcAft>
            </a:pPr>
            <a:r>
              <a:rPr sz="1250" b="1">
                <a:solidFill>
                  <a:srgbClr val="0F172A"/>
                </a:solidFill>
                <a:latin typeface="Helvetica Neue"/>
              </a:rPr>
              <a:t>Aim: five firms, costs covered</a:t>
            </a:r>
          </a:p>
        </p:txBody>
      </p:sp>
      <p:sp>
        <p:nvSpPr>
          <p:cNvPr id="29" name="TextBox 28"/>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WHAT HAPPENS NEXT</a:t>
            </a:r>
          </a:p>
        </p:txBody>
      </p:sp>
      <p:sp>
        <p:nvSpPr>
          <p:cNvPr id="30" name="TextBox 29"/>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192222" cy="440436"/>
          </a:xfrm>
          <a:prstGeom prst="rect">
            <a:avLst/>
          </a:prstGeom>
          <a:noFill/>
        </p:spPr>
        <p:txBody>
          <a:bodyPr wrap="square" lIns="0" rIns="0" tIns="0" bIns="0" anchor="t">
            <a:spAutoFit/>
          </a:bodyPr>
          <a:lstStyle/>
          <a:p>
            <a:pPr algn="l">
              <a:lnSpc>
                <a:spcPct val="100000"/>
              </a:lnSpc>
              <a:spcAft>
                <a:spcPts val="0"/>
              </a:spcAft>
            </a:pPr>
            <a:r>
              <a:rPr sz="3000" b="1">
                <a:solidFill>
                  <a:srgbClr val="0F172A"/>
                </a:solidFill>
                <a:latin typeface="Helvetica Neue"/>
              </a:rPr>
              <a:t>The team</a:t>
            </a:r>
          </a:p>
        </p:txBody>
      </p:sp>
      <p:sp>
        <p:nvSpPr>
          <p:cNvPr id="3" name="TextBox 2"/>
          <p:cNvSpPr txBox="1"/>
          <p:nvPr/>
        </p:nvSpPr>
        <p:spPr>
          <a:xfrm>
            <a:off x="731520" y="1007363"/>
            <a:ext cx="9977649" cy="251025"/>
          </a:xfrm>
          <a:prstGeom prst="rect">
            <a:avLst/>
          </a:prstGeom>
          <a:noFill/>
        </p:spPr>
        <p:txBody>
          <a:bodyPr wrap="square" lIns="0" rIns="0" tIns="0" bIns="0" anchor="t">
            <a:spAutoFit/>
          </a:bodyPr>
          <a:lstStyle/>
          <a:p>
            <a:pPr algn="l">
              <a:lnSpc>
                <a:spcPct val="118000"/>
              </a:lnSpc>
              <a:spcAft>
                <a:spcPts val="0"/>
              </a:spcAft>
            </a:pPr>
            <a:r>
              <a:rPr sz="1350" b="0">
                <a:solidFill>
                  <a:srgbClr val="64748B"/>
                </a:solidFill>
                <a:latin typeface="Helvetica Neue"/>
              </a:rPr>
              <a:t>One of us has sold to these customers for years. The other builds the system.</a:t>
            </a:r>
          </a:p>
        </p:txBody>
      </p:sp>
      <p:sp>
        <p:nvSpPr>
          <p:cNvPr id="4" name="Rectangle 3"/>
          <p:cNvSpPr/>
          <p:nvPr/>
        </p:nvSpPr>
        <p:spPr>
          <a:xfrm>
            <a:off x="731520" y="1386405"/>
            <a:ext cx="10728655"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2437"/>
            <a:ext cx="5135727" cy="205740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2437"/>
            <a:ext cx="5135727" cy="41148"/>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2008197"/>
            <a:ext cx="512064" cy="512064"/>
          </a:xfrm>
          <a:prstGeom prst="ellipse">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82496" y="2044773"/>
            <a:ext cx="3910431" cy="262737"/>
          </a:xfrm>
          <a:prstGeom prst="rect">
            <a:avLst/>
          </a:prstGeom>
          <a:noFill/>
        </p:spPr>
        <p:txBody>
          <a:bodyPr wrap="square" lIns="0" rIns="0" tIns="0" bIns="0" anchor="t">
            <a:spAutoFit/>
          </a:bodyPr>
          <a:lstStyle/>
          <a:p>
            <a:pPr algn="l">
              <a:lnSpc>
                <a:spcPct val="105000"/>
              </a:lnSpc>
              <a:spcAft>
                <a:spcPts val="0"/>
              </a:spcAft>
            </a:pPr>
            <a:r>
              <a:rPr sz="1600" b="1">
                <a:solidFill>
                  <a:srgbClr val="0F172A"/>
                </a:solidFill>
                <a:latin typeface="Helvetica Neue"/>
              </a:rPr>
              <a:t>[FOUNDER 1]</a:t>
            </a:r>
          </a:p>
        </p:txBody>
      </p:sp>
      <p:sp>
        <p:nvSpPr>
          <p:cNvPr id="9" name="TextBox 8"/>
          <p:cNvSpPr txBox="1"/>
          <p:nvPr/>
        </p:nvSpPr>
        <p:spPr>
          <a:xfrm>
            <a:off x="1682496" y="2300805"/>
            <a:ext cx="3910431" cy="177927"/>
          </a:xfrm>
          <a:prstGeom prst="rect">
            <a:avLst/>
          </a:prstGeom>
          <a:noFill/>
        </p:spPr>
        <p:txBody>
          <a:bodyPr wrap="square" lIns="0" rIns="0" tIns="0" bIns="0" anchor="t">
            <a:spAutoFit/>
          </a:bodyPr>
          <a:lstStyle/>
          <a:p>
            <a:pPr algn="l">
              <a:lnSpc>
                <a:spcPct val="105000"/>
              </a:lnSpc>
              <a:spcAft>
                <a:spcPts val="0"/>
              </a:spcAft>
            </a:pPr>
            <a:r>
              <a:rPr sz="1000" b="1">
                <a:solidFill>
                  <a:srgbClr val="1A4D8F"/>
                </a:solidFill>
                <a:latin typeface="Helvetica Neue"/>
              </a:rPr>
              <a:t>MARKET AND PRODUCT</a:t>
            </a:r>
          </a:p>
        </p:txBody>
      </p:sp>
      <p:sp>
        <p:nvSpPr>
          <p:cNvPr id="10" name="TextBox 9"/>
          <p:cNvSpPr txBox="1"/>
          <p:nvPr/>
        </p:nvSpPr>
        <p:spPr>
          <a:xfrm>
            <a:off x="1005840" y="2758005"/>
            <a:ext cx="4587087" cy="898144"/>
          </a:xfrm>
          <a:prstGeom prst="rect">
            <a:avLst/>
          </a:prstGeom>
          <a:noFill/>
        </p:spPr>
        <p:txBody>
          <a:bodyPr wrap="square" lIns="0" rIns="0" tIns="0" bIns="0" anchor="t">
            <a:spAutoFit/>
          </a:bodyPr>
          <a:lstStyle/>
          <a:p>
            <a:pPr algn="l">
              <a:lnSpc>
                <a:spcPct val="128000"/>
              </a:lnSpc>
              <a:spcAft>
                <a:spcPts val="0"/>
              </a:spcAft>
            </a:pPr>
            <a:r>
              <a:rPr sz="1250" b="0">
                <a:solidFill>
                  <a:srgbClr val="334155"/>
                </a:solidFill>
                <a:latin typeface="Helvetica Neue"/>
              </a:rPr>
              <a:t>[Years] selling equities to institutions across Asia, and the author of Asia Economics Observations, which is how we reach our first customers. Clients have been asking for these numbers for years.</a:t>
            </a:r>
          </a:p>
        </p:txBody>
      </p:sp>
      <p:sp>
        <p:nvSpPr>
          <p:cNvPr id="11" name="Rectangle 10"/>
          <p:cNvSpPr/>
          <p:nvPr/>
        </p:nvSpPr>
        <p:spPr>
          <a:xfrm>
            <a:off x="6324447" y="1642437"/>
            <a:ext cx="5135727" cy="2057400"/>
          </a:xfrm>
          <a:prstGeom prst="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24447" y="1642437"/>
            <a:ext cx="5135727" cy="41148"/>
          </a:xfrm>
          <a:prstGeom prst="rect">
            <a:avLst/>
          </a:prstGeom>
          <a:solidFill>
            <a:srgbClr val="1A4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98767" y="2008197"/>
            <a:ext cx="512064" cy="512064"/>
          </a:xfrm>
          <a:prstGeom prst="ellipse">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75423" y="2044773"/>
            <a:ext cx="3910431" cy="262737"/>
          </a:xfrm>
          <a:prstGeom prst="rect">
            <a:avLst/>
          </a:prstGeom>
          <a:noFill/>
        </p:spPr>
        <p:txBody>
          <a:bodyPr wrap="square" lIns="0" rIns="0" tIns="0" bIns="0" anchor="t">
            <a:spAutoFit/>
          </a:bodyPr>
          <a:lstStyle/>
          <a:p>
            <a:pPr algn="l">
              <a:lnSpc>
                <a:spcPct val="105000"/>
              </a:lnSpc>
              <a:spcAft>
                <a:spcPts val="0"/>
              </a:spcAft>
            </a:pPr>
            <a:r>
              <a:rPr sz="1600" b="1">
                <a:solidFill>
                  <a:srgbClr val="0F172A"/>
                </a:solidFill>
                <a:latin typeface="Helvetica Neue"/>
              </a:rPr>
              <a:t>[FOUNDER 2]</a:t>
            </a:r>
          </a:p>
        </p:txBody>
      </p:sp>
      <p:sp>
        <p:nvSpPr>
          <p:cNvPr id="15" name="TextBox 14"/>
          <p:cNvSpPr txBox="1"/>
          <p:nvPr/>
        </p:nvSpPr>
        <p:spPr>
          <a:xfrm>
            <a:off x="7275423" y="2300805"/>
            <a:ext cx="3910431" cy="177927"/>
          </a:xfrm>
          <a:prstGeom prst="rect">
            <a:avLst/>
          </a:prstGeom>
          <a:noFill/>
        </p:spPr>
        <p:txBody>
          <a:bodyPr wrap="square" lIns="0" rIns="0" tIns="0" bIns="0" anchor="t">
            <a:spAutoFit/>
          </a:bodyPr>
          <a:lstStyle/>
          <a:p>
            <a:pPr algn="l">
              <a:lnSpc>
                <a:spcPct val="105000"/>
              </a:lnSpc>
              <a:spcAft>
                <a:spcPts val="0"/>
              </a:spcAft>
            </a:pPr>
            <a:r>
              <a:rPr sz="1000" b="1">
                <a:solidFill>
                  <a:srgbClr val="1A4D8F"/>
                </a:solidFill>
                <a:latin typeface="Helvetica Neue"/>
              </a:rPr>
              <a:t>[ENGINEERING]</a:t>
            </a:r>
          </a:p>
        </p:txBody>
      </p:sp>
      <p:sp>
        <p:nvSpPr>
          <p:cNvPr id="16" name="TextBox 15"/>
          <p:cNvSpPr txBox="1"/>
          <p:nvPr/>
        </p:nvSpPr>
        <p:spPr>
          <a:xfrm>
            <a:off x="6598767" y="2758005"/>
            <a:ext cx="4587087" cy="682752"/>
          </a:xfrm>
          <a:prstGeom prst="rect">
            <a:avLst/>
          </a:prstGeom>
          <a:noFill/>
        </p:spPr>
        <p:txBody>
          <a:bodyPr wrap="square" lIns="0" rIns="0" tIns="0" bIns="0" anchor="t">
            <a:spAutoFit/>
          </a:bodyPr>
          <a:lstStyle/>
          <a:p>
            <a:pPr algn="l">
              <a:lnSpc>
                <a:spcPct val="128000"/>
              </a:lnSpc>
              <a:spcAft>
                <a:spcPts val="0"/>
              </a:spcAft>
            </a:pPr>
            <a:r>
              <a:rPr sz="1250" b="0">
                <a:solidFill>
                  <a:srgbClr val="334155"/>
                </a:solidFill>
                <a:latin typeface="Helvetica Neue"/>
              </a:rPr>
              <a:t>[Their name, what they have built before, and one concrete thing that shows they can do this at scale. Two or three lines.]</a:t>
            </a:r>
          </a:p>
        </p:txBody>
      </p:sp>
      <p:sp>
        <p:nvSpPr>
          <p:cNvPr id="17" name="Rectangle 16"/>
          <p:cNvSpPr/>
          <p:nvPr/>
        </p:nvSpPr>
        <p:spPr>
          <a:xfrm>
            <a:off x="731520" y="3928437"/>
            <a:ext cx="10728655" cy="1188720"/>
          </a:xfrm>
          <a:prstGeom prst="rect">
            <a:avLst/>
          </a:prstGeom>
          <a:solidFill>
            <a:srgbClr val="F6F9FC"/>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181"/>
            <a:ext cx="10106863" cy="782909"/>
          </a:xfrm>
          <a:prstGeom prst="rect">
            <a:avLst/>
          </a:prstGeom>
          <a:noFill/>
        </p:spPr>
        <p:txBody>
          <a:bodyPr wrap="square" lIns="0" rIns="0" tIns="0" bIns="0" anchor="t">
            <a:spAutoFit/>
          </a:bodyPr>
          <a:lstStyle/>
          <a:p>
            <a:pPr algn="l">
              <a:lnSpc>
                <a:spcPct val="132000"/>
              </a:lnSpc>
              <a:spcAft>
                <a:spcPts val="0"/>
              </a:spcAft>
            </a:pPr>
            <a:r>
              <a:rPr sz="1400" b="1">
                <a:solidFill>
                  <a:srgbClr val="0F172A"/>
                </a:solidFill>
                <a:latin typeface="Helvetica Neue"/>
              </a:rPr>
              <a:t>What the two of us have already done: </a:t>
            </a:r>
            <a:r>
              <a:rPr sz="1400" b="0">
                <a:solidFill>
                  <a:srgbClr val="334155"/>
                </a:solidFill>
                <a:latin typeface="Helvetica Neue"/>
              </a:rPr>
              <a:t>a working system with a public API and an AI interface, covering every listed company in Japan, built in a few weeks. So the question is not whether we can build it. It is whether we can sell it, and that is what the next year is for.</a:t>
            </a:r>
          </a:p>
        </p:txBody>
      </p:sp>
      <p:sp>
        <p:nvSpPr>
          <p:cNvPr id="19" name="TextBox 18"/>
          <p:cNvSpPr txBox="1"/>
          <p:nvPr/>
        </p:nvSpPr>
        <p:spPr>
          <a:xfrm>
            <a:off x="731520" y="6400800"/>
            <a:ext cx="7510058" cy="157734"/>
          </a:xfrm>
          <a:prstGeom prst="rect">
            <a:avLst/>
          </a:prstGeom>
          <a:noFill/>
        </p:spPr>
        <p:txBody>
          <a:bodyPr wrap="square" lIns="0" rIns="0" tIns="0" bIns="0" anchor="t">
            <a:spAutoFit/>
          </a:bodyPr>
          <a:lstStyle/>
          <a:p>
            <a:pPr algn="l">
              <a:lnSpc>
                <a:spcPct val="100000"/>
              </a:lnSpc>
              <a:spcAft>
                <a:spcPts val="0"/>
              </a:spcAft>
            </a:pPr>
            <a:r>
              <a:rPr sz="900" b="0">
                <a:solidFill>
                  <a:srgbClr val="94A3B8"/>
                </a:solidFill>
                <a:latin typeface="Helvetica Neue"/>
              </a:rPr>
              <a:t>TEAM</a:t>
            </a:r>
          </a:p>
        </p:txBody>
      </p:sp>
      <p:sp>
        <p:nvSpPr>
          <p:cNvPr id="20" name="TextBox 19"/>
          <p:cNvSpPr txBox="1"/>
          <p:nvPr/>
        </p:nvSpPr>
        <p:spPr>
          <a:xfrm>
            <a:off x="10545775" y="6400800"/>
            <a:ext cx="914400" cy="157734"/>
          </a:xfrm>
          <a:prstGeom prst="rect">
            <a:avLst/>
          </a:prstGeom>
          <a:noFill/>
        </p:spPr>
        <p:txBody>
          <a:bodyPr wrap="square" lIns="0" rIns="0" tIns="0" bIns="0" anchor="t">
            <a:spAutoFit/>
          </a:bodyPr>
          <a:lstStyle/>
          <a:p>
            <a:pPr algn="r">
              <a:lnSpc>
                <a:spcPct val="100000"/>
              </a:lnSpc>
              <a:spcAft>
                <a:spcPts val="0"/>
              </a:spcAft>
            </a:pPr>
            <a:r>
              <a:rPr sz="900" b="0">
                <a:solidFill>
                  <a:srgbClr val="94A3B8"/>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4D8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8FB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728655" cy="184658"/>
          </a:xfrm>
          <a:prstGeom prst="rect">
            <a:avLst/>
          </a:prstGeom>
          <a:noFill/>
        </p:spPr>
        <p:txBody>
          <a:bodyPr wrap="square" lIns="0" rIns="0" tIns="0" bIns="0" anchor="t">
            <a:spAutoFit/>
          </a:bodyPr>
          <a:lstStyle/>
          <a:p>
            <a:pPr algn="l">
              <a:lnSpc>
                <a:spcPct val="100000"/>
              </a:lnSpc>
              <a:spcAft>
                <a:spcPts val="0"/>
              </a:spcAft>
            </a:pPr>
            <a:r>
              <a:rPr sz="1100" b="1">
                <a:solidFill>
                  <a:srgbClr val="C5D7EC"/>
                </a:solidFill>
                <a:latin typeface="Helvetica Neue"/>
              </a:rPr>
              <a:t>WHAT WE ARE ASKING FOR</a:t>
            </a:r>
          </a:p>
        </p:txBody>
      </p:sp>
      <p:sp>
        <p:nvSpPr>
          <p:cNvPr id="4" name="TextBox 3"/>
          <p:cNvSpPr txBox="1"/>
          <p:nvPr/>
        </p:nvSpPr>
        <p:spPr>
          <a:xfrm>
            <a:off x="731520" y="1243584"/>
            <a:ext cx="8582924" cy="1113536"/>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Helvetica Neue"/>
              </a:rPr>
              <a:t>[AMOUNT] to reach first revenue.</a:t>
            </a:r>
          </a:p>
        </p:txBody>
      </p:sp>
      <p:sp>
        <p:nvSpPr>
          <p:cNvPr id="5" name="TextBox 4"/>
          <p:cNvSpPr txBox="1"/>
          <p:nvPr/>
        </p:nvSpPr>
        <p:spPr>
          <a:xfrm>
            <a:off x="731520" y="1975104"/>
            <a:ext cx="6222620" cy="507746"/>
          </a:xfrm>
          <a:prstGeom prst="rect">
            <a:avLst/>
          </a:prstGeom>
          <a:noFill/>
        </p:spPr>
        <p:txBody>
          <a:bodyPr wrap="square" lIns="0" rIns="0" tIns="0" bIns="0" anchor="t">
            <a:spAutoFit/>
          </a:bodyPr>
          <a:lstStyle/>
          <a:p>
            <a:pPr algn="l">
              <a:lnSpc>
                <a:spcPct val="125000"/>
              </a:lnSpc>
              <a:spcAft>
                <a:spcPts val="0"/>
              </a:spcAft>
            </a:pPr>
            <a:r>
              <a:rPr sz="1400" b="0">
                <a:solidFill>
                  <a:srgbClr val="C5D7EC"/>
                </a:solidFill>
                <a:latin typeface="Helvetica Neue"/>
              </a:rPr>
              <a:t>Eighteen months for the two of us, the hosting, and the selling that turns a working system into a paying one.</a:t>
            </a:r>
          </a:p>
        </p:txBody>
      </p:sp>
      <p:sp>
        <p:nvSpPr>
          <p:cNvPr id="6" name="Rectangle 5"/>
          <p:cNvSpPr/>
          <p:nvPr/>
        </p:nvSpPr>
        <p:spPr>
          <a:xfrm>
            <a:off x="731520" y="2688336"/>
            <a:ext cx="10728655" cy="12801"/>
          </a:xfrm>
          <a:prstGeom prst="rect">
            <a:avLst/>
          </a:prstGeom>
          <a:solidFill>
            <a:srgbClr val="123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26080"/>
            <a:ext cx="3332378" cy="413512"/>
          </a:xfrm>
          <a:prstGeom prst="rect">
            <a:avLst/>
          </a:prstGeom>
          <a:noFill/>
        </p:spPr>
        <p:txBody>
          <a:bodyPr wrap="square" lIns="0" rIns="0" tIns="0" bIns="0" anchor="t">
            <a:spAutoFit/>
          </a:bodyPr>
          <a:lstStyle/>
          <a:p>
            <a:pPr algn="l">
              <a:lnSpc>
                <a:spcPct val="100000"/>
              </a:lnSpc>
              <a:spcAft>
                <a:spcPts val="0"/>
              </a:spcAft>
            </a:pPr>
            <a:r>
              <a:rPr sz="2800" b="1">
                <a:solidFill>
                  <a:srgbClr val="FFFFFF"/>
                </a:solidFill>
                <a:latin typeface="Helvetica Neue"/>
              </a:rPr>
              <a:t>[%]</a:t>
            </a:r>
          </a:p>
        </p:txBody>
      </p:sp>
      <p:sp>
        <p:nvSpPr>
          <p:cNvPr id="8" name="TextBox 7"/>
          <p:cNvSpPr txBox="1"/>
          <p:nvPr/>
        </p:nvSpPr>
        <p:spPr>
          <a:xfrm>
            <a:off x="731520" y="3401568"/>
            <a:ext cx="3332378" cy="204851"/>
          </a:xfrm>
          <a:prstGeom prst="rect">
            <a:avLst/>
          </a:prstGeom>
          <a:noFill/>
        </p:spPr>
        <p:txBody>
          <a:bodyPr wrap="square" lIns="0" rIns="0" tIns="0" bIns="0" anchor="t">
            <a:spAutoFit/>
          </a:bodyPr>
          <a:lstStyle/>
          <a:p>
            <a:pPr algn="l">
              <a:lnSpc>
                <a:spcPct val="100000"/>
              </a:lnSpc>
              <a:spcAft>
                <a:spcPts val="0"/>
              </a:spcAft>
            </a:pPr>
            <a:r>
              <a:rPr sz="1250" b="1">
                <a:solidFill>
                  <a:srgbClr val="8FBDE8"/>
                </a:solidFill>
                <a:latin typeface="Helvetica Neue"/>
              </a:rPr>
              <a:t>BUILDING</a:t>
            </a:r>
          </a:p>
        </p:txBody>
      </p:sp>
      <p:sp>
        <p:nvSpPr>
          <p:cNvPr id="9" name="TextBox 8"/>
          <p:cNvSpPr txBox="1"/>
          <p:nvPr/>
        </p:nvSpPr>
        <p:spPr>
          <a:xfrm>
            <a:off x="731520" y="3657600"/>
            <a:ext cx="3332378" cy="406781"/>
          </a:xfrm>
          <a:prstGeom prst="rect">
            <a:avLst/>
          </a:prstGeom>
          <a:noFill/>
        </p:spPr>
        <p:txBody>
          <a:bodyPr wrap="square" lIns="0" rIns="0" tIns="0" bIns="0" anchor="t">
            <a:spAutoFit/>
          </a:bodyPr>
          <a:lstStyle/>
          <a:p>
            <a:pPr algn="l">
              <a:lnSpc>
                <a:spcPct val="125000"/>
              </a:lnSpc>
              <a:spcAft>
                <a:spcPts val="0"/>
              </a:spcAft>
            </a:pPr>
            <a:r>
              <a:rPr sz="1100" b="0">
                <a:solidFill>
                  <a:srgbClr val="C5D7EC"/>
                </a:solidFill>
                <a:latin typeface="Helvetica Neue"/>
              </a:rPr>
              <a:t>The specialists, accounts, and the adapters for the next market.</a:t>
            </a:r>
          </a:p>
        </p:txBody>
      </p:sp>
      <p:sp>
        <p:nvSpPr>
          <p:cNvPr id="10" name="TextBox 9"/>
          <p:cNvSpPr txBox="1"/>
          <p:nvPr/>
        </p:nvSpPr>
        <p:spPr>
          <a:xfrm>
            <a:off x="4429658" y="2926080"/>
            <a:ext cx="3332378" cy="413512"/>
          </a:xfrm>
          <a:prstGeom prst="rect">
            <a:avLst/>
          </a:prstGeom>
          <a:noFill/>
        </p:spPr>
        <p:txBody>
          <a:bodyPr wrap="square" lIns="0" rIns="0" tIns="0" bIns="0" anchor="t">
            <a:spAutoFit/>
          </a:bodyPr>
          <a:lstStyle/>
          <a:p>
            <a:pPr algn="l">
              <a:lnSpc>
                <a:spcPct val="100000"/>
              </a:lnSpc>
              <a:spcAft>
                <a:spcPts val="0"/>
              </a:spcAft>
            </a:pPr>
            <a:r>
              <a:rPr sz="2800" b="1">
                <a:solidFill>
                  <a:srgbClr val="FFFFFF"/>
                </a:solidFill>
                <a:latin typeface="Helvetica Neue"/>
              </a:rPr>
              <a:t>[%]</a:t>
            </a:r>
          </a:p>
        </p:txBody>
      </p:sp>
      <p:sp>
        <p:nvSpPr>
          <p:cNvPr id="11" name="TextBox 10"/>
          <p:cNvSpPr txBox="1"/>
          <p:nvPr/>
        </p:nvSpPr>
        <p:spPr>
          <a:xfrm>
            <a:off x="4429658" y="3401568"/>
            <a:ext cx="3332378" cy="204851"/>
          </a:xfrm>
          <a:prstGeom prst="rect">
            <a:avLst/>
          </a:prstGeom>
          <a:noFill/>
        </p:spPr>
        <p:txBody>
          <a:bodyPr wrap="square" lIns="0" rIns="0" tIns="0" bIns="0" anchor="t">
            <a:spAutoFit/>
          </a:bodyPr>
          <a:lstStyle/>
          <a:p>
            <a:pPr algn="l">
              <a:lnSpc>
                <a:spcPct val="100000"/>
              </a:lnSpc>
              <a:spcAft>
                <a:spcPts val="0"/>
              </a:spcAft>
            </a:pPr>
            <a:r>
              <a:rPr sz="1250" b="1">
                <a:solidFill>
                  <a:srgbClr val="8FBDE8"/>
                </a:solidFill>
                <a:latin typeface="Helvetica Neue"/>
              </a:rPr>
              <a:t>SELLING</a:t>
            </a:r>
          </a:p>
        </p:txBody>
      </p:sp>
      <p:sp>
        <p:nvSpPr>
          <p:cNvPr id="12" name="TextBox 11"/>
          <p:cNvSpPr txBox="1"/>
          <p:nvPr/>
        </p:nvSpPr>
        <p:spPr>
          <a:xfrm>
            <a:off x="4429658" y="3657600"/>
            <a:ext cx="3332378" cy="406781"/>
          </a:xfrm>
          <a:prstGeom prst="rect">
            <a:avLst/>
          </a:prstGeom>
          <a:noFill/>
        </p:spPr>
        <p:txBody>
          <a:bodyPr wrap="square" lIns="0" rIns="0" tIns="0" bIns="0" anchor="t">
            <a:spAutoFit/>
          </a:bodyPr>
          <a:lstStyle/>
          <a:p>
            <a:pPr algn="l">
              <a:lnSpc>
                <a:spcPct val="125000"/>
              </a:lnSpc>
              <a:spcAft>
                <a:spcPts val="0"/>
              </a:spcAft>
            </a:pPr>
            <a:r>
              <a:rPr sz="1100" b="0">
                <a:solidFill>
                  <a:srgbClr val="C5D7EC"/>
                </a:solidFill>
                <a:latin typeface="Helvetica Neue"/>
              </a:rPr>
              <a:t>The newsletter, conferences, and getting in front of forty desks.</a:t>
            </a:r>
          </a:p>
        </p:txBody>
      </p:sp>
      <p:sp>
        <p:nvSpPr>
          <p:cNvPr id="13" name="TextBox 12"/>
          <p:cNvSpPr txBox="1"/>
          <p:nvPr/>
        </p:nvSpPr>
        <p:spPr>
          <a:xfrm>
            <a:off x="8127796" y="2926080"/>
            <a:ext cx="3332378" cy="413512"/>
          </a:xfrm>
          <a:prstGeom prst="rect">
            <a:avLst/>
          </a:prstGeom>
          <a:noFill/>
        </p:spPr>
        <p:txBody>
          <a:bodyPr wrap="square" lIns="0" rIns="0" tIns="0" bIns="0" anchor="t">
            <a:spAutoFit/>
          </a:bodyPr>
          <a:lstStyle/>
          <a:p>
            <a:pPr algn="l">
              <a:lnSpc>
                <a:spcPct val="100000"/>
              </a:lnSpc>
              <a:spcAft>
                <a:spcPts val="0"/>
              </a:spcAft>
            </a:pPr>
            <a:r>
              <a:rPr sz="2800" b="1">
                <a:solidFill>
                  <a:srgbClr val="FFFFFF"/>
                </a:solidFill>
                <a:latin typeface="Helvetica Neue"/>
              </a:rPr>
              <a:t>[%]</a:t>
            </a:r>
          </a:p>
        </p:txBody>
      </p:sp>
      <p:sp>
        <p:nvSpPr>
          <p:cNvPr id="14" name="TextBox 13"/>
          <p:cNvSpPr txBox="1"/>
          <p:nvPr/>
        </p:nvSpPr>
        <p:spPr>
          <a:xfrm>
            <a:off x="8127796" y="3401568"/>
            <a:ext cx="3332378" cy="204851"/>
          </a:xfrm>
          <a:prstGeom prst="rect">
            <a:avLst/>
          </a:prstGeom>
          <a:noFill/>
        </p:spPr>
        <p:txBody>
          <a:bodyPr wrap="square" lIns="0" rIns="0" tIns="0" bIns="0" anchor="t">
            <a:spAutoFit/>
          </a:bodyPr>
          <a:lstStyle/>
          <a:p>
            <a:pPr algn="l">
              <a:lnSpc>
                <a:spcPct val="100000"/>
              </a:lnSpc>
              <a:spcAft>
                <a:spcPts val="0"/>
              </a:spcAft>
            </a:pPr>
            <a:r>
              <a:rPr sz="1250" b="1">
                <a:solidFill>
                  <a:srgbClr val="8FBDE8"/>
                </a:solidFill>
                <a:latin typeface="Helvetica Neue"/>
              </a:rPr>
              <a:t>RUNNING IT</a:t>
            </a:r>
          </a:p>
        </p:txBody>
      </p:sp>
      <p:sp>
        <p:nvSpPr>
          <p:cNvPr id="15" name="TextBox 14"/>
          <p:cNvSpPr txBox="1"/>
          <p:nvPr/>
        </p:nvSpPr>
        <p:spPr>
          <a:xfrm>
            <a:off x="8127796" y="3657600"/>
            <a:ext cx="3332378" cy="406781"/>
          </a:xfrm>
          <a:prstGeom prst="rect">
            <a:avLst/>
          </a:prstGeom>
          <a:noFill/>
        </p:spPr>
        <p:txBody>
          <a:bodyPr wrap="square" lIns="0" rIns="0" tIns="0" bIns="0" anchor="t">
            <a:spAutoFit/>
          </a:bodyPr>
          <a:lstStyle/>
          <a:p>
            <a:pPr algn="l">
              <a:lnSpc>
                <a:spcPct val="125000"/>
              </a:lnSpc>
              <a:spcAft>
                <a:spcPts val="0"/>
              </a:spcAft>
            </a:pPr>
            <a:r>
              <a:rPr sz="1100" b="0">
                <a:solidFill>
                  <a:srgbClr val="C5D7EC"/>
                </a:solidFill>
                <a:latin typeface="Helvetica Neue"/>
              </a:rPr>
              <a:t>Hosting, monitoring, licensing, and the compliance answers firms ask for.</a:t>
            </a:r>
          </a:p>
        </p:txBody>
      </p:sp>
      <p:sp>
        <p:nvSpPr>
          <p:cNvPr id="16" name="Rectangle 15"/>
          <p:cNvSpPr/>
          <p:nvPr/>
        </p:nvSpPr>
        <p:spPr>
          <a:xfrm>
            <a:off x="731520" y="4572000"/>
            <a:ext cx="10728655" cy="12801"/>
          </a:xfrm>
          <a:prstGeom prst="rect">
            <a:avLst/>
          </a:prstGeom>
          <a:solidFill>
            <a:srgbClr val="123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28032"/>
            <a:ext cx="6651766" cy="736263"/>
          </a:xfrm>
          <a:prstGeom prst="rect">
            <a:avLst/>
          </a:prstGeom>
          <a:noFill/>
        </p:spPr>
        <p:txBody>
          <a:bodyPr wrap="square" lIns="0" rIns="0" tIns="0" bIns="0" anchor="t">
            <a:spAutoFit/>
          </a:bodyPr>
          <a:lstStyle/>
          <a:p>
            <a:pPr algn="l">
              <a:lnSpc>
                <a:spcPct val="135000"/>
              </a:lnSpc>
              <a:spcAft>
                <a:spcPts val="0"/>
              </a:spcAft>
            </a:pPr>
            <a:r>
              <a:rPr sz="1350" b="1">
                <a:solidFill>
                  <a:srgbClr val="FFFFFF"/>
                </a:solidFill>
                <a:latin typeface="Helvetica Neue"/>
              </a:rPr>
              <a:t>The most useful thing you could do</a:t>
            </a:r>
          </a:p>
          <a:p>
            <a:pPr algn="l">
              <a:lnSpc>
                <a:spcPct val="135000"/>
              </a:lnSpc>
              <a:spcAft>
                <a:spcPts val="0"/>
              </a:spcAft>
            </a:pPr>
            <a:r>
              <a:rPr sz="1250" b="0">
                <a:solidFill>
                  <a:srgbClr val="C5D7EC"/>
                </a:solidFill>
                <a:latin typeface="Helvetica Neue"/>
              </a:rPr>
              <a:t>Introduce us to one fund or one head of research. Right now that is worth more to us than the money.</a:t>
            </a:r>
          </a:p>
        </p:txBody>
      </p:sp>
      <p:sp>
        <p:nvSpPr>
          <p:cNvPr id="18" name="TextBox 17"/>
          <p:cNvSpPr txBox="1"/>
          <p:nvPr/>
        </p:nvSpPr>
        <p:spPr>
          <a:xfrm>
            <a:off x="7985455" y="4828032"/>
            <a:ext cx="3474720" cy="481831"/>
          </a:xfrm>
          <a:prstGeom prst="rect">
            <a:avLst/>
          </a:prstGeom>
          <a:noFill/>
        </p:spPr>
        <p:txBody>
          <a:bodyPr wrap="square" lIns="0" rIns="0" tIns="0" bIns="0" anchor="t">
            <a:spAutoFit/>
          </a:bodyPr>
          <a:lstStyle/>
          <a:p>
            <a:pPr algn="r">
              <a:lnSpc>
                <a:spcPct val="135000"/>
              </a:lnSpc>
              <a:spcAft>
                <a:spcPts val="0"/>
              </a:spcAft>
            </a:pPr>
            <a:r>
              <a:rPr sz="1300" b="1">
                <a:solidFill>
                  <a:srgbClr val="FFFFFF"/>
                </a:solidFill>
                <a:latin typeface="Helvetica Neue"/>
              </a:rPr>
              <a:t>[EMAIL]</a:t>
            </a:r>
          </a:p>
          <a:p>
            <a:pPr algn="r">
              <a:lnSpc>
                <a:spcPct val="135000"/>
              </a:lnSpc>
              <a:spcAft>
                <a:spcPts val="0"/>
              </a:spcAft>
            </a:pPr>
            <a:r>
              <a:rPr sz="1150" b="0">
                <a:solidFill>
                  <a:srgbClr val="C5D7EC"/>
                </a:solidFill>
                <a:latin typeface="Menlo"/>
              </a:rPr>
              <a:t>ceresanalytics.[tld]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